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316" r:id="rId2"/>
    <p:sldId id="304" r:id="rId3"/>
    <p:sldId id="257" r:id="rId4"/>
    <p:sldId id="277" r:id="rId5"/>
    <p:sldId id="276" r:id="rId6"/>
    <p:sldId id="294" r:id="rId7"/>
    <p:sldId id="296" r:id="rId8"/>
    <p:sldId id="297" r:id="rId9"/>
    <p:sldId id="287" r:id="rId10"/>
    <p:sldId id="314" r:id="rId11"/>
    <p:sldId id="289" r:id="rId12"/>
    <p:sldId id="275" r:id="rId13"/>
    <p:sldId id="303" r:id="rId14"/>
    <p:sldId id="260" r:id="rId15"/>
    <p:sldId id="259" r:id="rId16"/>
    <p:sldId id="300" r:id="rId17"/>
    <p:sldId id="301" r:id="rId18"/>
    <p:sldId id="292" r:id="rId19"/>
    <p:sldId id="306" r:id="rId20"/>
    <p:sldId id="305" r:id="rId21"/>
    <p:sldId id="307" r:id="rId22"/>
    <p:sldId id="308" r:id="rId23"/>
    <p:sldId id="310" r:id="rId24"/>
    <p:sldId id="311" r:id="rId25"/>
    <p:sldId id="312" r:id="rId26"/>
    <p:sldId id="313" r:id="rId27"/>
    <p:sldId id="318" r:id="rId28"/>
    <p:sldId id="315" r:id="rId29"/>
    <p:sldId id="261" r:id="rId30"/>
    <p:sldId id="268" r:id="rId31"/>
    <p:sldId id="317" r:id="rId32"/>
    <p:sldId id="27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9EF"/>
    <a:srgbClr val="C6E0F5"/>
    <a:srgbClr val="9CCAF0"/>
    <a:srgbClr val="B8BD28"/>
    <a:srgbClr val="BD2828"/>
    <a:srgbClr val="D0E647"/>
    <a:srgbClr val="A981FF"/>
    <a:srgbClr val="7C1F8F"/>
    <a:srgbClr val="15627C"/>
    <a:srgbClr val="63B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BC59A-0504-171A-4071-EE3509CA4FA1}" v="568" dt="2023-10-04T18:15:17.030"/>
    <p1510:client id="{0FC20D23-57BA-AED4-C30F-98A25FA9B9FE}" v="1961" dt="2023-10-08T17:05:55.108"/>
    <p1510:client id="{153A8BC2-6D2C-AB06-4A74-8E1D1BD1DB1E}" v="2" dt="2023-10-10T09:44:58.836"/>
    <p1510:client id="{230737F3-2FEC-5D7D-C8C3-AFF4585FD7D6}" v="842" dt="2023-10-09T08:53:10.970"/>
    <p1510:client id="{272FE28F-DB15-4CB2-9E8F-CF0B9714819A}" v="172" dt="2023-09-26T06:59:07.907"/>
    <p1510:client id="{A67086ED-3D0F-1B54-2795-303108781862}" v="470" dt="2023-10-09T19:41:44.314"/>
    <p1510:client id="{CACFF4E2-A378-04D4-97F9-BCA67D20E572}" v="76" dt="2023-10-10T07:04:46.222"/>
    <p1510:client id="{E6130925-B68C-214F-D8FF-4809613CE1CA}" v="560" dt="2023-10-09T13:39:14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A98EB-18A0-4DB4-883A-792FCF0EF5DA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457C36-D7B5-4CA7-86E4-B291EF07D83E}">
      <dgm:prSet/>
      <dgm:spPr/>
      <dgm:t>
        <a:bodyPr/>
        <a:lstStyle/>
        <a:p>
          <a:r>
            <a:rPr lang="en-US" dirty="0"/>
            <a:t>Python context managers(open, with)</a:t>
          </a:r>
        </a:p>
      </dgm:t>
    </dgm:pt>
    <dgm:pt modelId="{12E8BAC0-5F38-4E7F-B70E-9DF90A4B8D1E}" type="parTrans" cxnId="{C96D6AA2-4142-4933-8411-0934CF9C1F7C}">
      <dgm:prSet/>
      <dgm:spPr/>
      <dgm:t>
        <a:bodyPr/>
        <a:lstStyle/>
        <a:p>
          <a:endParaRPr lang="en-US"/>
        </a:p>
      </dgm:t>
    </dgm:pt>
    <dgm:pt modelId="{1EB06523-6CAD-432F-B5E7-C40DBE9B6503}" type="sibTrans" cxnId="{C96D6AA2-4142-4933-8411-0934CF9C1F7C}">
      <dgm:prSet/>
      <dgm:spPr/>
      <dgm:t>
        <a:bodyPr/>
        <a:lstStyle/>
        <a:p>
          <a:endParaRPr lang="en-US"/>
        </a:p>
      </dgm:t>
    </dgm:pt>
    <dgm:pt modelId="{1EFB9C87-25F8-4ED0-B2A2-3F7C7306F00F}">
      <dgm:prSet/>
      <dgm:spPr/>
      <dgm:t>
        <a:bodyPr/>
        <a:lstStyle/>
        <a:p>
          <a:r>
            <a:rPr lang="en-US" dirty="0"/>
            <a:t>No list or </a:t>
          </a:r>
          <a:r>
            <a:rPr lang="en-US" dirty="0" err="1"/>
            <a:t>dict</a:t>
          </a:r>
          <a:r>
            <a:rPr lang="en-US" dirty="0"/>
            <a:t> comprehensions</a:t>
          </a:r>
        </a:p>
      </dgm:t>
    </dgm:pt>
    <dgm:pt modelId="{3E97B35A-F036-48CE-BD53-D61E40B56A60}" type="parTrans" cxnId="{2A019A91-B881-4938-AD42-BCD0B391A402}">
      <dgm:prSet/>
      <dgm:spPr/>
      <dgm:t>
        <a:bodyPr/>
        <a:lstStyle/>
        <a:p>
          <a:endParaRPr lang="en-US"/>
        </a:p>
      </dgm:t>
    </dgm:pt>
    <dgm:pt modelId="{3A80AD5B-502D-432E-BF47-6E4353AD6A8B}" type="sibTrans" cxnId="{2A019A91-B881-4938-AD42-BCD0B391A402}">
      <dgm:prSet/>
      <dgm:spPr/>
      <dgm:t>
        <a:bodyPr/>
        <a:lstStyle/>
        <a:p>
          <a:endParaRPr lang="en-US"/>
        </a:p>
      </dgm:t>
    </dgm:pt>
    <dgm:pt modelId="{69032DF4-7B08-4138-8CA1-E99432B8D188}">
      <dgm:prSet/>
      <dgm:spPr/>
      <dgm:t>
        <a:bodyPr/>
        <a:lstStyle/>
        <a:p>
          <a:r>
            <a:rPr lang="en-US" dirty="0"/>
            <a:t>Exception is actually called Error</a:t>
          </a:r>
        </a:p>
      </dgm:t>
    </dgm:pt>
    <dgm:pt modelId="{0828E57D-951C-48D6-83DD-A891CBDF405D}" type="parTrans" cxnId="{C099CF2C-6AD0-481B-B383-E22C8D0A09FC}">
      <dgm:prSet/>
      <dgm:spPr/>
      <dgm:t>
        <a:bodyPr/>
        <a:lstStyle/>
        <a:p>
          <a:endParaRPr lang="en-US"/>
        </a:p>
      </dgm:t>
    </dgm:pt>
    <dgm:pt modelId="{8F55374C-3F87-466D-9CC0-19755017ECF6}" type="sibTrans" cxnId="{C099CF2C-6AD0-481B-B383-E22C8D0A09FC}">
      <dgm:prSet/>
      <dgm:spPr/>
      <dgm:t>
        <a:bodyPr/>
        <a:lstStyle/>
        <a:p>
          <a:endParaRPr lang="en-US"/>
        </a:p>
      </dgm:t>
    </dgm:pt>
    <dgm:pt modelId="{C9F019F9-8624-4FB3-9DD5-38473690F77A}">
      <dgm:prSet/>
      <dgm:spPr/>
      <dgm:t>
        <a:bodyPr/>
        <a:lstStyle/>
        <a:p>
          <a:pPr rtl="0"/>
          <a:r>
            <a:rPr lang="en-US" dirty="0"/>
            <a:t>No polymorphism</a:t>
          </a:r>
          <a:endParaRPr lang="en-US" dirty="0">
            <a:latin typeface="Batang"/>
          </a:endParaRPr>
        </a:p>
      </dgm:t>
    </dgm:pt>
    <dgm:pt modelId="{3127CF38-7AC0-4E93-A954-3A5E93985229}" type="parTrans" cxnId="{267CAE48-1A60-4AB3-A8FB-0C15AD0B9963}">
      <dgm:prSet/>
      <dgm:spPr/>
      <dgm:t>
        <a:bodyPr/>
        <a:lstStyle/>
        <a:p>
          <a:endParaRPr lang="en-US"/>
        </a:p>
      </dgm:t>
    </dgm:pt>
    <dgm:pt modelId="{BBB595DB-DA85-4F3B-AE70-7E1C80928888}" type="sibTrans" cxnId="{267CAE48-1A60-4AB3-A8FB-0C15AD0B9963}">
      <dgm:prSet/>
      <dgm:spPr/>
      <dgm:t>
        <a:bodyPr/>
        <a:lstStyle/>
        <a:p>
          <a:endParaRPr lang="en-US"/>
        </a:p>
      </dgm:t>
    </dgm:pt>
    <dgm:pt modelId="{5EE4CAC9-436B-4319-9F0B-3F9B79BC71C6}">
      <dgm:prSet phldr="0"/>
      <dgm:spPr/>
      <dgm:t>
        <a:bodyPr/>
        <a:lstStyle/>
        <a:p>
          <a:pPr rtl="0"/>
          <a:r>
            <a:rPr lang="en-US" dirty="0">
              <a:latin typeface="Batang"/>
            </a:rPr>
            <a:t>Can't compile program with Python</a:t>
          </a:r>
        </a:p>
      </dgm:t>
    </dgm:pt>
    <dgm:pt modelId="{1E247C37-F4CA-4EBB-AFEA-A661211FBD26}" type="parTrans" cxnId="{8F7B3289-C313-4C4A-AF8A-6EB94E16653E}">
      <dgm:prSet/>
      <dgm:spPr/>
    </dgm:pt>
    <dgm:pt modelId="{B871FC5E-E2D1-4AD0-8240-7C09292CA986}" type="sibTrans" cxnId="{8F7B3289-C313-4C4A-AF8A-6EB94E16653E}">
      <dgm:prSet/>
      <dgm:spPr/>
    </dgm:pt>
    <dgm:pt modelId="{1C0ECE6A-93A8-4A43-8F09-156F1B550AF7}">
      <dgm:prSet phldr="0"/>
      <dgm:spPr/>
      <dgm:t>
        <a:bodyPr/>
        <a:lstStyle/>
        <a:p>
          <a:pPr rtl="0"/>
          <a:r>
            <a:rPr lang="en-US" dirty="0">
              <a:latin typeface="Batang"/>
            </a:rPr>
            <a:t>No keyword arguments(x=42) yet</a:t>
          </a:r>
        </a:p>
      </dgm:t>
    </dgm:pt>
    <dgm:pt modelId="{4185E5EE-0758-4B9C-8658-48FD46E3B5CE}" type="parTrans" cxnId="{79C0A6D8-4D09-44EE-B783-3AFF3588AF52}">
      <dgm:prSet/>
      <dgm:spPr/>
    </dgm:pt>
    <dgm:pt modelId="{E44D2F3F-DD14-4D19-AB4F-603EE303B586}" type="sibTrans" cxnId="{79C0A6D8-4D09-44EE-B783-3AFF3588AF52}">
      <dgm:prSet/>
      <dgm:spPr/>
    </dgm:pt>
    <dgm:pt modelId="{5161FC43-0020-45B1-A6F1-6F06951BA0EC}">
      <dgm:prSet phldr="0"/>
      <dgm:spPr/>
      <dgm:t>
        <a:bodyPr/>
        <a:lstStyle/>
        <a:p>
          <a:pPr rtl="0"/>
          <a:r>
            <a:rPr lang="en-US" dirty="0">
              <a:latin typeface="Batang"/>
            </a:rPr>
            <a:t>No classes</a:t>
          </a:r>
        </a:p>
      </dgm:t>
    </dgm:pt>
    <dgm:pt modelId="{0D8D2016-5334-4F32-BC14-6234B5B60105}" type="parTrans" cxnId="{8E45FEC0-8A90-487F-B341-5EC186616DCB}">
      <dgm:prSet/>
      <dgm:spPr/>
    </dgm:pt>
    <dgm:pt modelId="{FF9F5768-AE2C-4C50-890D-EFC69EB16C94}" type="sibTrans" cxnId="{8E45FEC0-8A90-487F-B341-5EC186616DCB}">
      <dgm:prSet/>
      <dgm:spPr/>
    </dgm:pt>
    <dgm:pt modelId="{1A17C31E-A011-4A2D-9F34-3DF3CD64D2B5}" type="pres">
      <dgm:prSet presAssocID="{F11A98EB-18A0-4DB4-883A-792FCF0EF5DA}" presName="diagram" presStyleCnt="0">
        <dgm:presLayoutVars>
          <dgm:dir/>
          <dgm:resizeHandles val="exact"/>
        </dgm:presLayoutVars>
      </dgm:prSet>
      <dgm:spPr/>
    </dgm:pt>
    <dgm:pt modelId="{0DE0BA82-AB62-48D0-B0BF-DDDD120C3F3B}" type="pres">
      <dgm:prSet presAssocID="{7C457C36-D7B5-4CA7-86E4-B291EF07D83E}" presName="node" presStyleLbl="node1" presStyleIdx="0" presStyleCnt="7">
        <dgm:presLayoutVars>
          <dgm:bulletEnabled val="1"/>
        </dgm:presLayoutVars>
      </dgm:prSet>
      <dgm:spPr/>
    </dgm:pt>
    <dgm:pt modelId="{B5ED8E6A-3C91-4719-B4DD-F220249C5F99}" type="pres">
      <dgm:prSet presAssocID="{1EB06523-6CAD-432F-B5E7-C40DBE9B6503}" presName="sibTrans" presStyleCnt="0"/>
      <dgm:spPr/>
    </dgm:pt>
    <dgm:pt modelId="{6BDE6CDD-8310-4A3A-9598-545C62FE93AF}" type="pres">
      <dgm:prSet presAssocID="{1EFB9C87-25F8-4ED0-B2A2-3F7C7306F00F}" presName="node" presStyleLbl="node1" presStyleIdx="1" presStyleCnt="7">
        <dgm:presLayoutVars>
          <dgm:bulletEnabled val="1"/>
        </dgm:presLayoutVars>
      </dgm:prSet>
      <dgm:spPr/>
    </dgm:pt>
    <dgm:pt modelId="{3D53F0CC-BF65-46BA-A75F-2F9EAFC4E176}" type="pres">
      <dgm:prSet presAssocID="{3A80AD5B-502D-432E-BF47-6E4353AD6A8B}" presName="sibTrans" presStyleCnt="0"/>
      <dgm:spPr/>
    </dgm:pt>
    <dgm:pt modelId="{F8DE3DF1-33F5-4B42-801C-3F0981D034D3}" type="pres">
      <dgm:prSet presAssocID="{69032DF4-7B08-4138-8CA1-E99432B8D188}" presName="node" presStyleLbl="node1" presStyleIdx="2" presStyleCnt="7">
        <dgm:presLayoutVars>
          <dgm:bulletEnabled val="1"/>
        </dgm:presLayoutVars>
      </dgm:prSet>
      <dgm:spPr/>
    </dgm:pt>
    <dgm:pt modelId="{F58BF661-7FFC-447A-99E9-25873949113A}" type="pres">
      <dgm:prSet presAssocID="{8F55374C-3F87-466D-9CC0-19755017ECF6}" presName="sibTrans" presStyleCnt="0"/>
      <dgm:spPr/>
    </dgm:pt>
    <dgm:pt modelId="{07AC020B-B19D-4B46-AA75-845CF4C2F24E}" type="pres">
      <dgm:prSet presAssocID="{5161FC43-0020-45B1-A6F1-6F06951BA0EC}" presName="node" presStyleLbl="node1" presStyleIdx="3" presStyleCnt="7">
        <dgm:presLayoutVars>
          <dgm:bulletEnabled val="1"/>
        </dgm:presLayoutVars>
      </dgm:prSet>
      <dgm:spPr/>
    </dgm:pt>
    <dgm:pt modelId="{2E7E667E-A191-4D8E-AE51-06F018DEE3B5}" type="pres">
      <dgm:prSet presAssocID="{FF9F5768-AE2C-4C50-890D-EFC69EB16C94}" presName="sibTrans" presStyleCnt="0"/>
      <dgm:spPr/>
    </dgm:pt>
    <dgm:pt modelId="{A035B546-090E-4CA6-8359-51CD3A48A302}" type="pres">
      <dgm:prSet presAssocID="{C9F019F9-8624-4FB3-9DD5-38473690F77A}" presName="node" presStyleLbl="node1" presStyleIdx="4" presStyleCnt="7">
        <dgm:presLayoutVars>
          <dgm:bulletEnabled val="1"/>
        </dgm:presLayoutVars>
      </dgm:prSet>
      <dgm:spPr/>
    </dgm:pt>
    <dgm:pt modelId="{9F30942C-F05F-41BE-8DD9-E80A8FD60E87}" type="pres">
      <dgm:prSet presAssocID="{BBB595DB-DA85-4F3B-AE70-7E1C80928888}" presName="sibTrans" presStyleCnt="0"/>
      <dgm:spPr/>
    </dgm:pt>
    <dgm:pt modelId="{093760F2-5013-4E05-89BB-503F956DA524}" type="pres">
      <dgm:prSet presAssocID="{5EE4CAC9-436B-4319-9F0B-3F9B79BC71C6}" presName="node" presStyleLbl="node1" presStyleIdx="5" presStyleCnt="7">
        <dgm:presLayoutVars>
          <dgm:bulletEnabled val="1"/>
        </dgm:presLayoutVars>
      </dgm:prSet>
      <dgm:spPr/>
    </dgm:pt>
    <dgm:pt modelId="{20C95F7E-F511-4C6A-BE0F-56E6620B9548}" type="pres">
      <dgm:prSet presAssocID="{B871FC5E-E2D1-4AD0-8240-7C09292CA986}" presName="sibTrans" presStyleCnt="0"/>
      <dgm:spPr/>
    </dgm:pt>
    <dgm:pt modelId="{5062A44D-C215-4CCE-9617-9FBB2A4887D8}" type="pres">
      <dgm:prSet presAssocID="{1C0ECE6A-93A8-4A43-8F09-156F1B550AF7}" presName="node" presStyleLbl="node1" presStyleIdx="6" presStyleCnt="7">
        <dgm:presLayoutVars>
          <dgm:bulletEnabled val="1"/>
        </dgm:presLayoutVars>
      </dgm:prSet>
      <dgm:spPr/>
    </dgm:pt>
  </dgm:ptLst>
  <dgm:cxnLst>
    <dgm:cxn modelId="{9C8C552C-203D-4655-A3CA-E51159A48065}" type="presOf" srcId="{1C0ECE6A-93A8-4A43-8F09-156F1B550AF7}" destId="{5062A44D-C215-4CCE-9617-9FBB2A4887D8}" srcOrd="0" destOrd="0" presId="urn:microsoft.com/office/officeart/2005/8/layout/default"/>
    <dgm:cxn modelId="{C099CF2C-6AD0-481B-B383-E22C8D0A09FC}" srcId="{F11A98EB-18A0-4DB4-883A-792FCF0EF5DA}" destId="{69032DF4-7B08-4138-8CA1-E99432B8D188}" srcOrd="2" destOrd="0" parTransId="{0828E57D-951C-48D6-83DD-A891CBDF405D}" sibTransId="{8F55374C-3F87-466D-9CC0-19755017ECF6}"/>
    <dgm:cxn modelId="{267CAE48-1A60-4AB3-A8FB-0C15AD0B9963}" srcId="{F11A98EB-18A0-4DB4-883A-792FCF0EF5DA}" destId="{C9F019F9-8624-4FB3-9DD5-38473690F77A}" srcOrd="4" destOrd="0" parTransId="{3127CF38-7AC0-4E93-A954-3A5E93985229}" sibTransId="{BBB595DB-DA85-4F3B-AE70-7E1C80928888}"/>
    <dgm:cxn modelId="{C9B77674-0075-4DBE-B182-E68B3550DFDE}" type="presOf" srcId="{5161FC43-0020-45B1-A6F1-6F06951BA0EC}" destId="{07AC020B-B19D-4B46-AA75-845CF4C2F24E}" srcOrd="0" destOrd="0" presId="urn:microsoft.com/office/officeart/2005/8/layout/default"/>
    <dgm:cxn modelId="{8F7B3289-C313-4C4A-AF8A-6EB94E16653E}" srcId="{F11A98EB-18A0-4DB4-883A-792FCF0EF5DA}" destId="{5EE4CAC9-436B-4319-9F0B-3F9B79BC71C6}" srcOrd="5" destOrd="0" parTransId="{1E247C37-F4CA-4EBB-AFEA-A661211FBD26}" sibTransId="{B871FC5E-E2D1-4AD0-8240-7C09292CA986}"/>
    <dgm:cxn modelId="{CF602B91-5874-47A5-92D7-256650847A6C}" type="presOf" srcId="{1EFB9C87-25F8-4ED0-B2A2-3F7C7306F00F}" destId="{6BDE6CDD-8310-4A3A-9598-545C62FE93AF}" srcOrd="0" destOrd="0" presId="urn:microsoft.com/office/officeart/2005/8/layout/default"/>
    <dgm:cxn modelId="{2A019A91-B881-4938-AD42-BCD0B391A402}" srcId="{F11A98EB-18A0-4DB4-883A-792FCF0EF5DA}" destId="{1EFB9C87-25F8-4ED0-B2A2-3F7C7306F00F}" srcOrd="1" destOrd="0" parTransId="{3E97B35A-F036-48CE-BD53-D61E40B56A60}" sibTransId="{3A80AD5B-502D-432E-BF47-6E4353AD6A8B}"/>
    <dgm:cxn modelId="{C96D6AA2-4142-4933-8411-0934CF9C1F7C}" srcId="{F11A98EB-18A0-4DB4-883A-792FCF0EF5DA}" destId="{7C457C36-D7B5-4CA7-86E4-B291EF07D83E}" srcOrd="0" destOrd="0" parTransId="{12E8BAC0-5F38-4E7F-B70E-9DF90A4B8D1E}" sibTransId="{1EB06523-6CAD-432F-B5E7-C40DBE9B6503}"/>
    <dgm:cxn modelId="{6C4D89A2-A6F8-48A8-B1B3-E74A10DDE0E6}" type="presOf" srcId="{69032DF4-7B08-4138-8CA1-E99432B8D188}" destId="{F8DE3DF1-33F5-4B42-801C-3F0981D034D3}" srcOrd="0" destOrd="0" presId="urn:microsoft.com/office/officeart/2005/8/layout/default"/>
    <dgm:cxn modelId="{57E79DA7-FA04-430C-88AB-201F9E4ADAE2}" type="presOf" srcId="{F11A98EB-18A0-4DB4-883A-792FCF0EF5DA}" destId="{1A17C31E-A011-4A2D-9F34-3DF3CD64D2B5}" srcOrd="0" destOrd="0" presId="urn:microsoft.com/office/officeart/2005/8/layout/default"/>
    <dgm:cxn modelId="{C4B1FFAC-8FA0-4408-B1EC-9B515350210C}" type="presOf" srcId="{5EE4CAC9-436B-4319-9F0B-3F9B79BC71C6}" destId="{093760F2-5013-4E05-89BB-503F956DA524}" srcOrd="0" destOrd="0" presId="urn:microsoft.com/office/officeart/2005/8/layout/default"/>
    <dgm:cxn modelId="{8E45FEC0-8A90-487F-B341-5EC186616DCB}" srcId="{F11A98EB-18A0-4DB4-883A-792FCF0EF5DA}" destId="{5161FC43-0020-45B1-A6F1-6F06951BA0EC}" srcOrd="3" destOrd="0" parTransId="{0D8D2016-5334-4F32-BC14-6234B5B60105}" sibTransId="{FF9F5768-AE2C-4C50-890D-EFC69EB16C94}"/>
    <dgm:cxn modelId="{79C0A6D8-4D09-44EE-B783-3AFF3588AF52}" srcId="{F11A98EB-18A0-4DB4-883A-792FCF0EF5DA}" destId="{1C0ECE6A-93A8-4A43-8F09-156F1B550AF7}" srcOrd="6" destOrd="0" parTransId="{4185E5EE-0758-4B9C-8658-48FD46E3B5CE}" sibTransId="{E44D2F3F-DD14-4D19-AB4F-603EE303B586}"/>
    <dgm:cxn modelId="{2B8975E4-AA60-4A12-8D34-763E35748D4C}" type="presOf" srcId="{C9F019F9-8624-4FB3-9DD5-38473690F77A}" destId="{A035B546-090E-4CA6-8359-51CD3A48A302}" srcOrd="0" destOrd="0" presId="urn:microsoft.com/office/officeart/2005/8/layout/default"/>
    <dgm:cxn modelId="{4030D8FF-1C15-4446-8736-F0E9D893098A}" type="presOf" srcId="{7C457C36-D7B5-4CA7-86E4-B291EF07D83E}" destId="{0DE0BA82-AB62-48D0-B0BF-DDDD120C3F3B}" srcOrd="0" destOrd="0" presId="urn:microsoft.com/office/officeart/2005/8/layout/default"/>
    <dgm:cxn modelId="{8F096752-373A-4BB2-8011-A07F4BC8410B}" type="presParOf" srcId="{1A17C31E-A011-4A2D-9F34-3DF3CD64D2B5}" destId="{0DE0BA82-AB62-48D0-B0BF-DDDD120C3F3B}" srcOrd="0" destOrd="0" presId="urn:microsoft.com/office/officeart/2005/8/layout/default"/>
    <dgm:cxn modelId="{99EABA5A-8316-4B2B-90BB-3328DD96AA84}" type="presParOf" srcId="{1A17C31E-A011-4A2D-9F34-3DF3CD64D2B5}" destId="{B5ED8E6A-3C91-4719-B4DD-F220249C5F99}" srcOrd="1" destOrd="0" presId="urn:microsoft.com/office/officeart/2005/8/layout/default"/>
    <dgm:cxn modelId="{1769D2B6-F4CA-474C-9D16-7B7C4C9E57F2}" type="presParOf" srcId="{1A17C31E-A011-4A2D-9F34-3DF3CD64D2B5}" destId="{6BDE6CDD-8310-4A3A-9598-545C62FE93AF}" srcOrd="2" destOrd="0" presId="urn:microsoft.com/office/officeart/2005/8/layout/default"/>
    <dgm:cxn modelId="{9E9BC0DB-0E78-4C5B-98A0-C5DFEB009E6F}" type="presParOf" srcId="{1A17C31E-A011-4A2D-9F34-3DF3CD64D2B5}" destId="{3D53F0CC-BF65-46BA-A75F-2F9EAFC4E176}" srcOrd="3" destOrd="0" presId="urn:microsoft.com/office/officeart/2005/8/layout/default"/>
    <dgm:cxn modelId="{AE66BA13-D742-47DC-9C5C-30E4229C7C03}" type="presParOf" srcId="{1A17C31E-A011-4A2D-9F34-3DF3CD64D2B5}" destId="{F8DE3DF1-33F5-4B42-801C-3F0981D034D3}" srcOrd="4" destOrd="0" presId="urn:microsoft.com/office/officeart/2005/8/layout/default"/>
    <dgm:cxn modelId="{C8E039F3-0E90-47E3-9A5D-5E9747F8E8BC}" type="presParOf" srcId="{1A17C31E-A011-4A2D-9F34-3DF3CD64D2B5}" destId="{F58BF661-7FFC-447A-99E9-25873949113A}" srcOrd="5" destOrd="0" presId="urn:microsoft.com/office/officeart/2005/8/layout/default"/>
    <dgm:cxn modelId="{192676C8-C10B-4D4F-BA8C-ED9373F872DA}" type="presParOf" srcId="{1A17C31E-A011-4A2D-9F34-3DF3CD64D2B5}" destId="{07AC020B-B19D-4B46-AA75-845CF4C2F24E}" srcOrd="6" destOrd="0" presId="urn:microsoft.com/office/officeart/2005/8/layout/default"/>
    <dgm:cxn modelId="{C8134956-3BF9-469B-B046-D5759645F731}" type="presParOf" srcId="{1A17C31E-A011-4A2D-9F34-3DF3CD64D2B5}" destId="{2E7E667E-A191-4D8E-AE51-06F018DEE3B5}" srcOrd="7" destOrd="0" presId="urn:microsoft.com/office/officeart/2005/8/layout/default"/>
    <dgm:cxn modelId="{A42486D5-2E2A-4162-A6B1-C03A64035F84}" type="presParOf" srcId="{1A17C31E-A011-4A2D-9F34-3DF3CD64D2B5}" destId="{A035B546-090E-4CA6-8359-51CD3A48A302}" srcOrd="8" destOrd="0" presId="urn:microsoft.com/office/officeart/2005/8/layout/default"/>
    <dgm:cxn modelId="{5F57C299-DFC9-4323-A2A4-B91849D66DB8}" type="presParOf" srcId="{1A17C31E-A011-4A2D-9F34-3DF3CD64D2B5}" destId="{9F30942C-F05F-41BE-8DD9-E80A8FD60E87}" srcOrd="9" destOrd="0" presId="urn:microsoft.com/office/officeart/2005/8/layout/default"/>
    <dgm:cxn modelId="{47081D45-FBD6-4CBC-8C17-55340B12DB6F}" type="presParOf" srcId="{1A17C31E-A011-4A2D-9F34-3DF3CD64D2B5}" destId="{093760F2-5013-4E05-89BB-503F956DA524}" srcOrd="10" destOrd="0" presId="urn:microsoft.com/office/officeart/2005/8/layout/default"/>
    <dgm:cxn modelId="{1DB34FA4-D6A2-41CD-84D0-B82D6DBC9B00}" type="presParOf" srcId="{1A17C31E-A011-4A2D-9F34-3DF3CD64D2B5}" destId="{20C95F7E-F511-4C6A-BE0F-56E6620B9548}" srcOrd="11" destOrd="0" presId="urn:microsoft.com/office/officeart/2005/8/layout/default"/>
    <dgm:cxn modelId="{CFC498D4-F951-491B-B5F5-67099ECB4017}" type="presParOf" srcId="{1A17C31E-A011-4A2D-9F34-3DF3CD64D2B5}" destId="{5062A44D-C215-4CCE-9617-9FBB2A4887D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0BA82-AB62-48D0-B0BF-DDDD120C3F3B}">
      <dsp:nvSpPr>
        <dsp:cNvPr id="0" name=""/>
        <dsp:cNvSpPr/>
      </dsp:nvSpPr>
      <dsp:spPr>
        <a:xfrm>
          <a:off x="135444" y="3142"/>
          <a:ext cx="2377979" cy="14267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Python context managers(open, with)</a:t>
          </a:r>
        </a:p>
      </dsp:txBody>
      <dsp:txXfrm>
        <a:off x="135444" y="3142"/>
        <a:ext cx="2377979" cy="1426787"/>
      </dsp:txXfrm>
    </dsp:sp>
    <dsp:sp modelId="{6BDE6CDD-8310-4A3A-9598-545C62FE93AF}">
      <dsp:nvSpPr>
        <dsp:cNvPr id="0" name=""/>
        <dsp:cNvSpPr/>
      </dsp:nvSpPr>
      <dsp:spPr>
        <a:xfrm>
          <a:off x="2751221" y="3142"/>
          <a:ext cx="2377979" cy="1426787"/>
        </a:xfrm>
        <a:prstGeom prst="rect">
          <a:avLst/>
        </a:prstGeom>
        <a:solidFill>
          <a:schemeClr val="accent5">
            <a:hueOff val="246420"/>
            <a:satOff val="1095"/>
            <a:lumOff val="-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list or </a:t>
          </a:r>
          <a:r>
            <a:rPr lang="en-US" sz="2100" kern="1200" dirty="0" err="1"/>
            <a:t>dict</a:t>
          </a:r>
          <a:r>
            <a:rPr lang="en-US" sz="2100" kern="1200" dirty="0"/>
            <a:t> comprehensions</a:t>
          </a:r>
        </a:p>
      </dsp:txBody>
      <dsp:txXfrm>
        <a:off x="2751221" y="3142"/>
        <a:ext cx="2377979" cy="1426787"/>
      </dsp:txXfrm>
    </dsp:sp>
    <dsp:sp modelId="{F8DE3DF1-33F5-4B42-801C-3F0981D034D3}">
      <dsp:nvSpPr>
        <dsp:cNvPr id="0" name=""/>
        <dsp:cNvSpPr/>
      </dsp:nvSpPr>
      <dsp:spPr>
        <a:xfrm>
          <a:off x="5366999" y="3142"/>
          <a:ext cx="2377979" cy="1426787"/>
        </a:xfrm>
        <a:prstGeom prst="rect">
          <a:avLst/>
        </a:prstGeom>
        <a:solidFill>
          <a:schemeClr val="accent5">
            <a:hueOff val="492840"/>
            <a:satOff val="2191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Exception is actually called Error</a:t>
          </a:r>
        </a:p>
      </dsp:txBody>
      <dsp:txXfrm>
        <a:off x="5366999" y="3142"/>
        <a:ext cx="2377979" cy="1426787"/>
      </dsp:txXfrm>
    </dsp:sp>
    <dsp:sp modelId="{07AC020B-B19D-4B46-AA75-845CF4C2F24E}">
      <dsp:nvSpPr>
        <dsp:cNvPr id="0" name=""/>
        <dsp:cNvSpPr/>
      </dsp:nvSpPr>
      <dsp:spPr>
        <a:xfrm>
          <a:off x="135444" y="1667727"/>
          <a:ext cx="2377979" cy="1426787"/>
        </a:xfrm>
        <a:prstGeom prst="rect">
          <a:avLst/>
        </a:prstGeom>
        <a:solidFill>
          <a:schemeClr val="accent5">
            <a:hueOff val="739261"/>
            <a:satOff val="3286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Batang"/>
            </a:rPr>
            <a:t>No classes</a:t>
          </a:r>
        </a:p>
      </dsp:txBody>
      <dsp:txXfrm>
        <a:off x="135444" y="1667727"/>
        <a:ext cx="2377979" cy="1426787"/>
      </dsp:txXfrm>
    </dsp:sp>
    <dsp:sp modelId="{A035B546-090E-4CA6-8359-51CD3A48A302}">
      <dsp:nvSpPr>
        <dsp:cNvPr id="0" name=""/>
        <dsp:cNvSpPr/>
      </dsp:nvSpPr>
      <dsp:spPr>
        <a:xfrm>
          <a:off x="2751221" y="1667727"/>
          <a:ext cx="2377979" cy="1426787"/>
        </a:xfrm>
        <a:prstGeom prst="rect">
          <a:avLst/>
        </a:prstGeom>
        <a:solidFill>
          <a:schemeClr val="accent5">
            <a:hueOff val="985681"/>
            <a:satOff val="4381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polymorphism</a:t>
          </a:r>
          <a:endParaRPr lang="en-US" sz="2100" kern="1200" dirty="0">
            <a:latin typeface="Batang"/>
          </a:endParaRPr>
        </a:p>
      </dsp:txBody>
      <dsp:txXfrm>
        <a:off x="2751221" y="1667727"/>
        <a:ext cx="2377979" cy="1426787"/>
      </dsp:txXfrm>
    </dsp:sp>
    <dsp:sp modelId="{093760F2-5013-4E05-89BB-503F956DA524}">
      <dsp:nvSpPr>
        <dsp:cNvPr id="0" name=""/>
        <dsp:cNvSpPr/>
      </dsp:nvSpPr>
      <dsp:spPr>
        <a:xfrm>
          <a:off x="5366999" y="1667727"/>
          <a:ext cx="2377979" cy="1426787"/>
        </a:xfrm>
        <a:prstGeom prst="rect">
          <a:avLst/>
        </a:prstGeom>
        <a:solidFill>
          <a:schemeClr val="accent5">
            <a:hueOff val="1232101"/>
            <a:satOff val="5477"/>
            <a:lumOff val="-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Batang"/>
            </a:rPr>
            <a:t>Can't compile program with Python</a:t>
          </a:r>
        </a:p>
      </dsp:txBody>
      <dsp:txXfrm>
        <a:off x="5366999" y="1667727"/>
        <a:ext cx="2377979" cy="1426787"/>
      </dsp:txXfrm>
    </dsp:sp>
    <dsp:sp modelId="{5062A44D-C215-4CCE-9617-9FBB2A4887D8}">
      <dsp:nvSpPr>
        <dsp:cNvPr id="0" name=""/>
        <dsp:cNvSpPr/>
      </dsp:nvSpPr>
      <dsp:spPr>
        <a:xfrm>
          <a:off x="2751221" y="3332313"/>
          <a:ext cx="2377979" cy="1426787"/>
        </a:xfrm>
        <a:prstGeom prst="rect">
          <a:avLst/>
        </a:prstGeom>
        <a:solidFill>
          <a:schemeClr val="accent5">
            <a:hueOff val="1478521"/>
            <a:satOff val="6572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Batang"/>
            </a:rPr>
            <a:t>No keyword arguments(x=42) yet</a:t>
          </a:r>
        </a:p>
      </dsp:txBody>
      <dsp:txXfrm>
        <a:off x="2751221" y="3332313"/>
        <a:ext cx="2377979" cy="1426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6FD37-1090-4C83-873E-7B6BC300512E}" type="datetimeFigureOut">
              <a:t>10/11/2023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D6633-B481-45A9-941F-5A6D459C8F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lir.llvm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dular.com/mojo/programming-manual.html#fn-definition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Compared to standard Python using </a:t>
            </a:r>
            <a:r>
              <a:rPr lang="en-US" dirty="0" err="1">
                <a:ea typeface="Calibri"/>
                <a:cs typeface="Calibri"/>
              </a:rPr>
              <a:t>cPython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0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dirty="0"/>
              <a:t>Modular Engine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dirty="0"/>
              <a:t>The Modular Engine executes all of your TensorFlow and </a:t>
            </a:r>
            <a:r>
              <a:rPr lang="en-US" dirty="0" err="1"/>
              <a:t>PyTorch</a:t>
            </a:r>
            <a:r>
              <a:rPr lang="en-US" dirty="0"/>
              <a:t> models with no model rewriting or conversions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dirty="0"/>
              <a:t>Mojo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dirty="0"/>
              <a:t>Mojo combines the usability of Python with the performance of C, unlocking unparalleled programmability of AI hardware and extensibility of AI models.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/>
              <a:t>Modular engineers initially wrote this code in </a:t>
            </a:r>
            <a:r>
              <a:rPr lang="en-US" u="sng" dirty="0">
                <a:hlinkClick r:id="rId3"/>
              </a:rPr>
              <a:t>MLIR</a:t>
            </a:r>
            <a:r>
              <a:rPr lang="en-US"/>
              <a:t> directly but found it to be a productivity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56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Swift, Apple, LLVM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Google, Google ML, </a:t>
            </a:r>
            <a:r>
              <a:rPr lang="en-US" dirty="0" err="1">
                <a:ea typeface="Calibri"/>
                <a:cs typeface="Calibri"/>
              </a:rPr>
              <a:t>Tensorflow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99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Wrote a small, fast, static language with Python syntax, and with a runtime bridge to </a:t>
            </a:r>
            <a:r>
              <a:rPr lang="en-US" dirty="0" err="1"/>
              <a:t>CPython</a:t>
            </a:r>
            <a:endParaRPr lang="en-US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Said they would make it a superset in the future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9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Mojo def function receives a copy of all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2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All values passed into a Mojo </a:t>
            </a:r>
            <a:r>
              <a:rPr lang="en-US" u="sng" dirty="0">
                <a:hlinkClick r:id="rId3"/>
              </a:rPr>
              <a:t>fn function</a:t>
            </a:r>
            <a:r>
              <a:rPr lang="en-US" dirty="0"/>
              <a:t> are immutable references by default. This means the function can read the original object (it is </a:t>
            </a:r>
            <a:r>
              <a:rPr lang="en-US" i="1" dirty="0"/>
              <a:t>not</a:t>
            </a:r>
            <a:r>
              <a:rPr lang="en-US" dirty="0"/>
              <a:t> a copy), but it cannot modify the object at all.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This is the borrow principle from Rust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82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the conventional sequential approach using one instruction to process each individual data is called scalar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6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define your own MLIR types and use them in Mojo and even Python code inside Mojo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06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Unhandled exception caught during execution: An error occurred in Python.</a:t>
            </a:r>
          </a:p>
          <a:p>
            <a:r>
              <a:rPr lang="en-US" dirty="0"/>
              <a:t>mojo: error: execution exited with a non-zero result: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D6633-B481-45A9-941F-5A6D459C8F37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8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6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20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95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4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44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2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13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55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71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15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50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bojankomazec.com/2017/03/installing-tensorflow-on-ubuntu-1604.html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AEDE-E6D1-7B9A-F866-E6FE4636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person in a blue shirt&#10;&#10;Description automatically generated">
            <a:extLst>
              <a:ext uri="{FF2B5EF4-FFF2-40B4-BE49-F238E27FC236}">
                <a16:creationId xmlns:a16="http://schemas.microsoft.com/office/drawing/2014/main" id="{96979D6F-345C-165D-40C2-8C869A759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40" y="514059"/>
            <a:ext cx="11914195" cy="5924172"/>
          </a:xfrm>
        </p:spPr>
      </p:pic>
    </p:spTree>
    <p:extLst>
      <p:ext uri="{BB962C8B-B14F-4D97-AF65-F5344CB8AC3E}">
        <p14:creationId xmlns:p14="http://schemas.microsoft.com/office/powerpoint/2010/main" val="94632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5F6D-FDF7-2BD0-5D66-B68E8401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Agenda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A58757-6C1E-A408-FD4F-3F298D7C0B6F}"/>
              </a:ext>
            </a:extLst>
          </p:cNvPr>
          <p:cNvGrpSpPr/>
          <p:nvPr/>
        </p:nvGrpSpPr>
        <p:grpSpPr>
          <a:xfrm>
            <a:off x="0" y="2216727"/>
            <a:ext cx="6729350" cy="1171241"/>
            <a:chOff x="0" y="2216727"/>
            <a:chExt cx="6729350" cy="1171241"/>
          </a:xfrm>
        </p:grpSpPr>
        <p:sp>
          <p:nvSpPr>
            <p:cNvPr id="5" name="Diagonal Stripe 4">
              <a:extLst>
                <a:ext uri="{FF2B5EF4-FFF2-40B4-BE49-F238E27FC236}">
                  <a16:creationId xmlns:a16="http://schemas.microsoft.com/office/drawing/2014/main" id="{F85AA2C1-9FE2-1BDD-60F7-8BCF856C8E92}"/>
                </a:ext>
              </a:extLst>
            </p:cNvPr>
            <p:cNvSpPr/>
            <p:nvPr/>
          </p:nvSpPr>
          <p:spPr>
            <a:xfrm>
              <a:off x="0" y="2403230"/>
              <a:ext cx="1172307" cy="984738"/>
            </a:xfrm>
            <a:prstGeom prst="diagStrip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A455F8C2-FC4F-6602-36DF-2875B3600E53}"/>
                </a:ext>
              </a:extLst>
            </p:cNvPr>
            <p:cNvSpPr/>
            <p:nvPr/>
          </p:nvSpPr>
          <p:spPr>
            <a:xfrm>
              <a:off x="584325" y="2227384"/>
              <a:ext cx="774333" cy="707799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7504A1-5654-0427-CEC2-5C81C010B29E}"/>
                </a:ext>
              </a:extLst>
            </p:cNvPr>
            <p:cNvSpPr/>
            <p:nvPr/>
          </p:nvSpPr>
          <p:spPr>
            <a:xfrm>
              <a:off x="1604082" y="2247177"/>
              <a:ext cx="128953" cy="66821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64AD2E-D3E2-5E9A-CF53-2BD140DFFFB3}"/>
                </a:ext>
              </a:extLst>
            </p:cNvPr>
            <p:cNvSpPr txBox="1"/>
            <p:nvPr/>
          </p:nvSpPr>
          <p:spPr>
            <a:xfrm>
              <a:off x="2097974" y="2216727"/>
              <a:ext cx="4631376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01 Who am I?</a:t>
              </a:r>
            </a:p>
            <a:p>
              <a:r>
                <a:rPr lang="en-US" sz="1600" b="1" dirty="0">
                  <a:solidFill>
                    <a:srgbClr val="000000"/>
                  </a:solidFill>
                </a:rPr>
                <a:t>And how I came to know Mojo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E3437BF-488F-2704-18E0-5E48DD039E25}"/>
              </a:ext>
            </a:extLst>
          </p:cNvPr>
          <p:cNvGrpSpPr/>
          <p:nvPr/>
        </p:nvGrpSpPr>
        <p:grpSpPr>
          <a:xfrm>
            <a:off x="0" y="3018311"/>
            <a:ext cx="6729350" cy="1171241"/>
            <a:chOff x="0" y="2216727"/>
            <a:chExt cx="6729350" cy="1171241"/>
          </a:xfrm>
        </p:grpSpPr>
        <p:sp>
          <p:nvSpPr>
            <p:cNvPr id="10" name="Diagonal Stripe 9">
              <a:extLst>
                <a:ext uri="{FF2B5EF4-FFF2-40B4-BE49-F238E27FC236}">
                  <a16:creationId xmlns:a16="http://schemas.microsoft.com/office/drawing/2014/main" id="{164F2C60-F17F-10FA-3A23-34194F9FE0AD}"/>
                </a:ext>
              </a:extLst>
            </p:cNvPr>
            <p:cNvSpPr/>
            <p:nvPr/>
          </p:nvSpPr>
          <p:spPr>
            <a:xfrm>
              <a:off x="0" y="2403230"/>
              <a:ext cx="1172307" cy="984738"/>
            </a:xfrm>
            <a:prstGeom prst="diagStrip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77F1878C-4E98-0468-D643-04F845B66107}"/>
                </a:ext>
              </a:extLst>
            </p:cNvPr>
            <p:cNvSpPr/>
            <p:nvPr/>
          </p:nvSpPr>
          <p:spPr>
            <a:xfrm>
              <a:off x="584325" y="2227384"/>
              <a:ext cx="774333" cy="707799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BC06E3-2786-D70D-E390-0F3D1349634F}"/>
                </a:ext>
              </a:extLst>
            </p:cNvPr>
            <p:cNvSpPr/>
            <p:nvPr/>
          </p:nvSpPr>
          <p:spPr>
            <a:xfrm>
              <a:off x="1604082" y="2247177"/>
              <a:ext cx="128953" cy="66821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17FBEB-FF02-FD05-F49C-D9DFD51C0527}"/>
                </a:ext>
              </a:extLst>
            </p:cNvPr>
            <p:cNvSpPr txBox="1"/>
            <p:nvPr/>
          </p:nvSpPr>
          <p:spPr>
            <a:xfrm>
              <a:off x="2097974" y="2216727"/>
              <a:ext cx="4631376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02 Is  Mojo faster than Python?</a:t>
              </a:r>
            </a:p>
            <a:p>
              <a:r>
                <a:rPr lang="en-US" sz="1600" b="1" dirty="0"/>
                <a:t>What was all the buzz about?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892299-C1BA-C430-B5E0-747686E21CA3}"/>
              </a:ext>
            </a:extLst>
          </p:cNvPr>
          <p:cNvGrpSpPr/>
          <p:nvPr/>
        </p:nvGrpSpPr>
        <p:grpSpPr>
          <a:xfrm>
            <a:off x="-1" y="3829791"/>
            <a:ext cx="6729350" cy="1171241"/>
            <a:chOff x="0" y="2216727"/>
            <a:chExt cx="6729350" cy="1171241"/>
          </a:xfrm>
        </p:grpSpPr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FB99EA69-924A-140A-AA00-747370F45A2E}"/>
                </a:ext>
              </a:extLst>
            </p:cNvPr>
            <p:cNvSpPr/>
            <p:nvPr/>
          </p:nvSpPr>
          <p:spPr>
            <a:xfrm>
              <a:off x="0" y="2403230"/>
              <a:ext cx="1172307" cy="984738"/>
            </a:xfrm>
            <a:prstGeom prst="diagStrip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A33B140D-0325-1908-06F6-EB80E6E3A118}"/>
                </a:ext>
              </a:extLst>
            </p:cNvPr>
            <p:cNvSpPr/>
            <p:nvPr/>
          </p:nvSpPr>
          <p:spPr>
            <a:xfrm>
              <a:off x="584325" y="2227384"/>
              <a:ext cx="774333" cy="707799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2F1691-DBEC-EB97-D9F1-AC62C317D85B}"/>
                </a:ext>
              </a:extLst>
            </p:cNvPr>
            <p:cNvSpPr/>
            <p:nvPr/>
          </p:nvSpPr>
          <p:spPr>
            <a:xfrm>
              <a:off x="1604082" y="2247177"/>
              <a:ext cx="128953" cy="66821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5281A8-B2D7-A5DA-F036-D98BCEDF6061}"/>
                </a:ext>
              </a:extLst>
            </p:cNvPr>
            <p:cNvSpPr txBox="1"/>
            <p:nvPr/>
          </p:nvSpPr>
          <p:spPr>
            <a:xfrm>
              <a:off x="2097974" y="2216727"/>
              <a:ext cx="4631376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03 The company behind Mojo</a:t>
              </a:r>
            </a:p>
            <a:p>
              <a:r>
                <a:rPr lang="en-US" sz="1600" b="1" dirty="0"/>
                <a:t>Who created it?</a:t>
              </a:r>
              <a:endParaRPr lang="en-US" sz="16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37C627-A617-DDC1-752B-C75B5C0B3B73}"/>
              </a:ext>
            </a:extLst>
          </p:cNvPr>
          <p:cNvGrpSpPr/>
          <p:nvPr/>
        </p:nvGrpSpPr>
        <p:grpSpPr>
          <a:xfrm>
            <a:off x="0" y="4621480"/>
            <a:ext cx="6729350" cy="1171241"/>
            <a:chOff x="0" y="2216727"/>
            <a:chExt cx="6729350" cy="1171241"/>
          </a:xfrm>
        </p:grpSpPr>
        <p:sp>
          <p:nvSpPr>
            <p:cNvPr id="20" name="Diagonal Stripe 19">
              <a:extLst>
                <a:ext uri="{FF2B5EF4-FFF2-40B4-BE49-F238E27FC236}">
                  <a16:creationId xmlns:a16="http://schemas.microsoft.com/office/drawing/2014/main" id="{BC181DF4-8677-6E2C-A7E0-B86C6A8FA322}"/>
                </a:ext>
              </a:extLst>
            </p:cNvPr>
            <p:cNvSpPr/>
            <p:nvPr/>
          </p:nvSpPr>
          <p:spPr>
            <a:xfrm>
              <a:off x="0" y="2403230"/>
              <a:ext cx="1172307" cy="984738"/>
            </a:xfrm>
            <a:prstGeom prst="diagStrip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9703FA5C-A4F2-7C88-616B-A40BDBD145AA}"/>
                </a:ext>
              </a:extLst>
            </p:cNvPr>
            <p:cNvSpPr/>
            <p:nvPr/>
          </p:nvSpPr>
          <p:spPr>
            <a:xfrm>
              <a:off x="584325" y="2227384"/>
              <a:ext cx="774333" cy="707799"/>
            </a:xfrm>
            <a:prstGeom prst="rightArrow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92F258-9C0E-6751-B8DC-609EA3087147}"/>
                </a:ext>
              </a:extLst>
            </p:cNvPr>
            <p:cNvSpPr/>
            <p:nvPr/>
          </p:nvSpPr>
          <p:spPr>
            <a:xfrm>
              <a:off x="1604082" y="2247177"/>
              <a:ext cx="128953" cy="66821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14B55D-899D-D8AF-2FC1-E81B5FD925C1}"/>
                </a:ext>
              </a:extLst>
            </p:cNvPr>
            <p:cNvSpPr txBox="1"/>
            <p:nvPr/>
          </p:nvSpPr>
          <p:spPr>
            <a:xfrm>
              <a:off x="2097974" y="2216727"/>
              <a:ext cx="4631376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04 How does Mojo work</a:t>
              </a:r>
            </a:p>
            <a:p>
              <a:r>
                <a:rPr lang="en-US" sz="1600" b="1" dirty="0"/>
                <a:t>Python &amp; Mojo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736A03-0696-E2B8-C6AF-EB26D24F0236}"/>
              </a:ext>
            </a:extLst>
          </p:cNvPr>
          <p:cNvGrpSpPr/>
          <p:nvPr/>
        </p:nvGrpSpPr>
        <p:grpSpPr>
          <a:xfrm>
            <a:off x="0" y="5383480"/>
            <a:ext cx="6729350" cy="1171241"/>
            <a:chOff x="0" y="2216727"/>
            <a:chExt cx="6729350" cy="1171241"/>
          </a:xfrm>
        </p:grpSpPr>
        <p:sp>
          <p:nvSpPr>
            <p:cNvPr id="25" name="Diagonal Stripe 24">
              <a:extLst>
                <a:ext uri="{FF2B5EF4-FFF2-40B4-BE49-F238E27FC236}">
                  <a16:creationId xmlns:a16="http://schemas.microsoft.com/office/drawing/2014/main" id="{60E592E1-ECD9-EDF2-9B80-2E3A3BE05739}"/>
                </a:ext>
              </a:extLst>
            </p:cNvPr>
            <p:cNvSpPr/>
            <p:nvPr/>
          </p:nvSpPr>
          <p:spPr>
            <a:xfrm>
              <a:off x="0" y="2403230"/>
              <a:ext cx="1172307" cy="984738"/>
            </a:xfrm>
            <a:prstGeom prst="diagStrip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A3B7ACF0-E68D-F277-73EE-BA6450CE5FD0}"/>
                </a:ext>
              </a:extLst>
            </p:cNvPr>
            <p:cNvSpPr/>
            <p:nvPr/>
          </p:nvSpPr>
          <p:spPr>
            <a:xfrm>
              <a:off x="584325" y="2227384"/>
              <a:ext cx="774333" cy="707799"/>
            </a:xfrm>
            <a:prstGeom prst="rightArrow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DA7AF07-14EC-035A-7641-47DDF78E24B5}"/>
                </a:ext>
              </a:extLst>
            </p:cNvPr>
            <p:cNvSpPr/>
            <p:nvPr/>
          </p:nvSpPr>
          <p:spPr>
            <a:xfrm>
              <a:off x="1604082" y="2247177"/>
              <a:ext cx="128953" cy="66821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77D0E2-1079-45DD-C8C6-03D19EA6BBB7}"/>
                </a:ext>
              </a:extLst>
            </p:cNvPr>
            <p:cNvSpPr txBox="1"/>
            <p:nvPr/>
          </p:nvSpPr>
          <p:spPr>
            <a:xfrm>
              <a:off x="2097974" y="2216727"/>
              <a:ext cx="4631376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05 My opinion on Mojo</a:t>
              </a:r>
            </a:p>
            <a:p>
              <a:r>
                <a:rPr lang="en-US" sz="1600" b="1" dirty="0">
                  <a:solidFill>
                    <a:srgbClr val="000000"/>
                  </a:solidFill>
                </a:rPr>
                <a:t>Is it usable yet?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404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861E7-E3F3-1F96-61E2-1A68D7F8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5567266" cy="1707775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Batang"/>
                <a:ea typeface="Batang"/>
              </a:rPr>
              <a:t>Who am I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23BF-A585-4CB9-0120-CF1E96F1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848396"/>
            <a:ext cx="5467441" cy="30183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 dirty="0"/>
              <a:t>Vito </a:t>
            </a:r>
            <a:r>
              <a:rPr lang="en-US" sz="1800" dirty="0" err="1"/>
              <a:t>Minheere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Python Data Engineer @ </a:t>
            </a:r>
            <a:r>
              <a:rPr lang="en-US" sz="1800" b="1" dirty="0" err="1"/>
              <a:t>Codebeez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6 years of Python experience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Currently working at the Sociale </a:t>
            </a:r>
            <a:r>
              <a:rPr lang="en-US" sz="1800" dirty="0" err="1"/>
              <a:t>Verzekeringsbank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294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G-20220608-WA0010.jpg">
            <a:extLst>
              <a:ext uri="{FF2B5EF4-FFF2-40B4-BE49-F238E27FC236}">
                <a16:creationId xmlns:a16="http://schemas.microsoft.com/office/drawing/2014/main" id="{6C816A9B-63D4-E34C-3499-C6039CF8D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93" y="850624"/>
            <a:ext cx="3865246" cy="515366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70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CCFF-91BD-231A-29E9-B0573A8B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How I heard about Mojo</a:t>
            </a:r>
            <a:endParaRPr lang="en-US" dirty="0"/>
          </a:p>
        </p:txBody>
      </p:sp>
      <p:pic>
        <p:nvPicPr>
          <p:cNvPr id="4" name="Picture 3" descr="A person with a picture of a person in front of a computer&#10;&#10;Description automatically generated">
            <a:extLst>
              <a:ext uri="{FF2B5EF4-FFF2-40B4-BE49-F238E27FC236}">
                <a16:creationId xmlns:a16="http://schemas.microsoft.com/office/drawing/2014/main" id="{8E890037-51BF-DF0C-4D97-D48E09DF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52" y="2064809"/>
            <a:ext cx="7127051" cy="40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1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3A7A-6343-B303-8E12-6D70957E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Is Mojo faster than Python?</a:t>
            </a:r>
            <a:endParaRPr lang="en-US" dirty="0"/>
          </a:p>
        </p:txBody>
      </p:sp>
      <p:pic>
        <p:nvPicPr>
          <p:cNvPr id="4" name="Content Placeholder 3" descr="A black square with a fire on it&#10;&#10;Description automatically generated">
            <a:extLst>
              <a:ext uri="{FF2B5EF4-FFF2-40B4-BE49-F238E27FC236}">
                <a16:creationId xmlns:a16="http://schemas.microsoft.com/office/drawing/2014/main" id="{4D93BE8D-565A-68D8-EA67-FB906E1E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3922" y="2260237"/>
            <a:ext cx="6096000" cy="3429000"/>
          </a:xfrm>
        </p:spPr>
      </p:pic>
    </p:spTree>
    <p:extLst>
      <p:ext uri="{BB962C8B-B14F-4D97-AF65-F5344CB8AC3E}">
        <p14:creationId xmlns:p14="http://schemas.microsoft.com/office/powerpoint/2010/main" val="1396389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1AAA-BC16-10B4-2899-886AD7A6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Matrix Multiplication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BE4F-9ECA-530D-AD78-5038CA1D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7" y="2848168"/>
            <a:ext cx="7745044" cy="260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5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BB0D-63E0-1D19-C44A-5DB9154C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121B-A379-B445-5F46-379CDA159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499" y="2202688"/>
            <a:ext cx="7494041" cy="2689832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def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A6E22E"/>
                </a:solidFill>
                <a:latin typeface="Consolas"/>
                <a:ea typeface="+mn-lt"/>
                <a:cs typeface="+mn-lt"/>
              </a:rPr>
              <a:t>matmul_untyped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(C,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m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rows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    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+=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*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B[k,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endParaRPr lang="en-US" sz="2200" dirty="0">
              <a:solidFill>
                <a:srgbClr val="F8F8F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5B893-2CC6-08E0-24C0-C11E550806C4}"/>
              </a:ext>
            </a:extLst>
          </p:cNvPr>
          <p:cNvSpPr txBox="1"/>
          <p:nvPr/>
        </p:nvSpPr>
        <p:spPr>
          <a:xfrm>
            <a:off x="1396999" y="5050692"/>
            <a:ext cx="3643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Loops in Python are slow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4E4DD-6664-B59C-856D-254D0B912EC6}"/>
              </a:ext>
            </a:extLst>
          </p:cNvPr>
          <p:cNvSpPr txBox="1"/>
          <p:nvPr/>
        </p:nvSpPr>
        <p:spPr>
          <a:xfrm>
            <a:off x="6320691" y="5050692"/>
            <a:ext cx="44743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Types are checked every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894C-7E63-0585-9AA1-64464585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83998-9861-BB96-5A32-5545E505E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037" y="2085457"/>
            <a:ext cx="7748040" cy="3227140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75715E"/>
                </a:solidFill>
                <a:latin typeface="Aptos Mono"/>
              </a:rPr>
              <a:t># This exactly the same Python implementation, 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dirty="0">
                <a:solidFill>
                  <a:srgbClr val="75715E"/>
                </a:solidFill>
                <a:latin typeface="Aptos Mono"/>
              </a:rPr>
              <a:t># but is </a:t>
            </a:r>
            <a:r>
              <a:rPr lang="en-US" dirty="0" err="1">
                <a:solidFill>
                  <a:srgbClr val="75715E"/>
                </a:solidFill>
                <a:latin typeface="Aptos Mono"/>
              </a:rPr>
              <a:t>infact</a:t>
            </a:r>
            <a:r>
              <a:rPr lang="en-US" dirty="0">
                <a:solidFill>
                  <a:srgbClr val="75715E"/>
                </a:solidFill>
                <a:latin typeface="Aptos Mono"/>
              </a:rPr>
              <a:t> Mojo code!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def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 err="1">
                <a:solidFill>
                  <a:srgbClr val="A6E22E"/>
                </a:solidFill>
                <a:latin typeface="Aptos Mono"/>
              </a:rPr>
              <a:t>matmul_untyped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(C,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A,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B):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for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m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range(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dirty="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rows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for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k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range(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A</a:t>
            </a:r>
            <a:r>
              <a:rPr lang="en-US" dirty="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cols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     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for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range(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dirty="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dirty="0" err="1">
                <a:solidFill>
                  <a:srgbClr val="F8F8F2"/>
                </a:solidFill>
                <a:latin typeface="Aptos Mono"/>
              </a:rPr>
              <a:t>cols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         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C[m,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n]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+=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A[m,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k]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B[k,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n]</a:t>
            </a:r>
            <a:endParaRPr lang="en-US" dirty="0">
              <a:latin typeface="Aptos Mon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62748-17BC-AFAE-8677-751A869A5DC2}"/>
              </a:ext>
            </a:extLst>
          </p:cNvPr>
          <p:cNvSpPr txBox="1"/>
          <p:nvPr/>
        </p:nvSpPr>
        <p:spPr>
          <a:xfrm>
            <a:off x="1084385" y="5480538"/>
            <a:ext cx="44352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Python code can be reused in Mojo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EB90F-25E5-73E1-85CC-5DCB2ABA596C}"/>
              </a:ext>
            </a:extLst>
          </p:cNvPr>
          <p:cNvSpPr txBox="1"/>
          <p:nvPr/>
        </p:nvSpPr>
        <p:spPr>
          <a:xfrm>
            <a:off x="5685692" y="5480538"/>
            <a:ext cx="53242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Running the same code in Mojo is </a:t>
            </a:r>
            <a:r>
              <a:rPr lang="en-US" sz="2000" b="1" dirty="0"/>
              <a:t>4.8x</a:t>
            </a:r>
            <a:r>
              <a:rPr lang="en-US" sz="2000" dirty="0"/>
              <a:t> faster</a:t>
            </a:r>
          </a:p>
        </p:txBody>
      </p:sp>
    </p:spTree>
    <p:extLst>
      <p:ext uri="{BB962C8B-B14F-4D97-AF65-F5344CB8AC3E}">
        <p14:creationId xmlns:p14="http://schemas.microsoft.com/office/powerpoint/2010/main" val="175280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DBE8-881D-7A25-CC61-A5F1B75E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Optimizations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0486B5-BBDF-990B-E774-607994B43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824993"/>
              </p:ext>
            </p:extLst>
          </p:nvPr>
        </p:nvGraphicFramePr>
        <p:xfrm>
          <a:off x="1953846" y="3526691"/>
          <a:ext cx="8295084" cy="2219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5028">
                  <a:extLst>
                    <a:ext uri="{9D8B030D-6E8A-4147-A177-3AD203B41FA5}">
                      <a16:colId xmlns:a16="http://schemas.microsoft.com/office/drawing/2014/main" val="1908804028"/>
                    </a:ext>
                  </a:extLst>
                </a:gridCol>
                <a:gridCol w="2765028">
                  <a:extLst>
                    <a:ext uri="{9D8B030D-6E8A-4147-A177-3AD203B41FA5}">
                      <a16:colId xmlns:a16="http://schemas.microsoft.com/office/drawing/2014/main" val="704278864"/>
                    </a:ext>
                  </a:extLst>
                </a:gridCol>
                <a:gridCol w="2765028">
                  <a:extLst>
                    <a:ext uri="{9D8B030D-6E8A-4147-A177-3AD203B41FA5}">
                      <a16:colId xmlns:a16="http://schemas.microsoft.com/office/drawing/2014/main" val="3647514839"/>
                    </a:ext>
                  </a:extLst>
                </a:gridCol>
              </a:tblGrid>
              <a:tr h="36146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68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Adding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9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Vectorizing inner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7118x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35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Parallelizing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venir Next LT Pro Light"/>
                        </a:rPr>
                        <a:t>146,4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62648x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997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venir Next LT Pro Light"/>
                        </a:rPr>
                        <a:t>166,7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71290x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5651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Autotune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180,1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77052x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693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09F032-5D07-1F5A-E2AB-74B207486DE8}"/>
              </a:ext>
            </a:extLst>
          </p:cNvPr>
          <p:cNvSpPr txBox="1"/>
          <p:nvPr/>
        </p:nvSpPr>
        <p:spPr>
          <a:xfrm>
            <a:off x="664308" y="2022231"/>
            <a:ext cx="61643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GFLOP per second = 1 billion floating point operations</a:t>
            </a:r>
          </a:p>
          <a:p>
            <a:endParaRPr lang="en-US" dirty="0"/>
          </a:p>
          <a:p>
            <a:r>
              <a:rPr lang="en-US" dirty="0"/>
              <a:t>Python used 0,0022 GFLOP/s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816BFF-8DBC-7DF1-4AF7-83AC4BC53A6C}"/>
              </a:ext>
            </a:extLst>
          </p:cNvPr>
          <p:cNvSpPr/>
          <p:nvPr/>
        </p:nvSpPr>
        <p:spPr>
          <a:xfrm>
            <a:off x="1944076" y="4259384"/>
            <a:ext cx="8303846" cy="380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9E13FA-E0D2-0D42-5D4E-6F3E07065448}"/>
              </a:ext>
            </a:extLst>
          </p:cNvPr>
          <p:cNvSpPr/>
          <p:nvPr/>
        </p:nvSpPr>
        <p:spPr>
          <a:xfrm>
            <a:off x="1944075" y="4640383"/>
            <a:ext cx="8303846" cy="380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E9F611-198B-BB6E-1C1B-0D1561BFB987}"/>
              </a:ext>
            </a:extLst>
          </p:cNvPr>
          <p:cNvSpPr/>
          <p:nvPr/>
        </p:nvSpPr>
        <p:spPr>
          <a:xfrm>
            <a:off x="1944076" y="5021384"/>
            <a:ext cx="8303846" cy="380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91BAC4-EA9C-6005-FA56-B8AFC40E7124}"/>
              </a:ext>
            </a:extLst>
          </p:cNvPr>
          <p:cNvSpPr/>
          <p:nvPr/>
        </p:nvSpPr>
        <p:spPr>
          <a:xfrm>
            <a:off x="1944075" y="5402383"/>
            <a:ext cx="8303846" cy="380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7B459-F4CC-8BC9-3329-23D57C83D99D}"/>
              </a:ext>
            </a:extLst>
          </p:cNvPr>
          <p:cNvGrpSpPr/>
          <p:nvPr/>
        </p:nvGrpSpPr>
        <p:grpSpPr>
          <a:xfrm>
            <a:off x="1908328" y="3494562"/>
            <a:ext cx="8397920" cy="764821"/>
            <a:chOff x="1908328" y="3494562"/>
            <a:chExt cx="8397920" cy="7648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2EBE6E-818F-9D05-2E59-7BC1917667C8}"/>
                </a:ext>
              </a:extLst>
            </p:cNvPr>
            <p:cNvSpPr/>
            <p:nvPr/>
          </p:nvSpPr>
          <p:spPr>
            <a:xfrm>
              <a:off x="1944076" y="3878384"/>
              <a:ext cx="8303846" cy="38099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16EB0A-E6F7-AEDD-EBA3-92BD0A46172F}"/>
                </a:ext>
              </a:extLst>
            </p:cNvPr>
            <p:cNvSpPr/>
            <p:nvPr/>
          </p:nvSpPr>
          <p:spPr>
            <a:xfrm>
              <a:off x="1908328" y="3494562"/>
              <a:ext cx="8397920" cy="38099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052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8B79-1D38-8718-D7D6-A79A790B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Optimized Mojo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93828-7BC0-C9F7-8E4B-396CBED8E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4204901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400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A981FF"/>
                </a:solidFill>
                <a:latin typeface="Aptos Mono"/>
              </a:rPr>
              <a:t>matmul_tiled_unrolled_parallelized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(C: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Matrix,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A: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Matrix,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B: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Matrix):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sz="1400" dirty="0">
                <a:solidFill>
                  <a:srgbClr val="A6E22E"/>
                </a:solidFill>
                <a:latin typeface="Aptos Mono"/>
              </a:rPr>
              <a:t>@parameter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sz="1400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A981FF"/>
                </a:solidFill>
                <a:latin typeface="Aptos Mono"/>
              </a:rPr>
              <a:t>calc_row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(m: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Int):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sz="1400" dirty="0">
                <a:solidFill>
                  <a:srgbClr val="A6E22E"/>
                </a:solidFill>
                <a:latin typeface="Aptos Mono"/>
              </a:rPr>
              <a:t>@parameter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sz="1400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A981FF"/>
                </a:solidFill>
                <a:latin typeface="Aptos Mono"/>
              </a:rPr>
              <a:t>calc_tile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tile_x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tile_y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Int](x: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y: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Int):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     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for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k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range(y,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tile_y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         </a:t>
            </a:r>
            <a:r>
              <a:rPr lang="en-US" sz="1400" dirty="0">
                <a:solidFill>
                  <a:srgbClr val="A6E22E"/>
                </a:solidFill>
                <a:latin typeface="Aptos Mono"/>
              </a:rPr>
              <a:t>@parameter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         </a:t>
            </a:r>
            <a:r>
              <a:rPr lang="en-US" sz="1400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A981FF"/>
                </a:solidFill>
                <a:latin typeface="Aptos Mono"/>
              </a:rPr>
              <a:t>dot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nelts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Int,](n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Int):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            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store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nelts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](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m,n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+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load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nelts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](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m,n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+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A[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m,k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B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load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nelts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](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k,n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+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))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         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vectorize_unroll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[nelts,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tile_x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//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nelts,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dot](tile_x)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alias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tile_size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= </a:t>
            </a:r>
            <a:r>
              <a:rPr lang="en-US" sz="1400" dirty="0">
                <a:solidFill>
                  <a:srgbClr val="F8F8F2"/>
                </a:solidFill>
                <a:ea typeface="+mn-lt"/>
                <a:cs typeface="+mn-lt"/>
              </a:rPr>
              <a:t>autotune(</a:t>
            </a:r>
            <a:r>
              <a:rPr lang="en-US" sz="1400" dirty="0">
                <a:solidFill>
                  <a:srgbClr val="A981FF"/>
                </a:solidFill>
                <a:latin typeface="Aptos Mono"/>
              </a:rPr>
              <a:t>4, 6, 8, 16, 32</a:t>
            </a:r>
            <a:r>
              <a:rPr lang="en-US" sz="1400" dirty="0">
                <a:solidFill>
                  <a:schemeClr val="bg1"/>
                </a:solidFill>
                <a:latin typeface="Aptos Mono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tile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calc_tile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nelts</a:t>
            </a:r>
            <a:r>
              <a:rPr lang="en-US" sz="1400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tile_size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tile_size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](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A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cols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cols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
     </a:t>
            </a:r>
            <a:r>
              <a:rPr lang="en-US" sz="1400" dirty="0">
                <a:solidFill>
                  <a:srgbClr val="66D9EF"/>
                </a:solidFill>
                <a:latin typeface="Aptos Mono"/>
              </a:rPr>
              <a:t>parallelize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[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calc_row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](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rows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C</a:t>
            </a:r>
            <a:r>
              <a:rPr lang="en-US" sz="1400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sz="1400" err="1">
                <a:solidFill>
                  <a:srgbClr val="F8F8F2"/>
                </a:solidFill>
                <a:latin typeface="Aptos Mono"/>
              </a:rPr>
              <a:t>rows</a:t>
            </a:r>
            <a:r>
              <a:rPr lang="en-US" sz="1400" dirty="0">
                <a:solidFill>
                  <a:srgbClr val="F8F8F2"/>
                </a:solidFill>
                <a:latin typeface="Aptos Mono"/>
              </a:rPr>
              <a:t>)</a:t>
            </a:r>
            <a:endParaRPr lang="en-US" sz="1400" dirty="0"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38565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804E-C144-7A89-344C-0128F29F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Vectorize unroll</a:t>
            </a:r>
            <a:endParaRPr lang="en-US" dirty="0"/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49D14EB-77E7-F0BF-4B58-619C2D9E2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593" y="2251897"/>
            <a:ext cx="6937103" cy="3544818"/>
          </a:xfrm>
        </p:spPr>
      </p:pic>
    </p:spTree>
    <p:extLst>
      <p:ext uri="{BB962C8B-B14F-4D97-AF65-F5344CB8AC3E}">
        <p14:creationId xmlns:p14="http://schemas.microsoft.com/office/powerpoint/2010/main" val="2344814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3A7A-6343-B303-8E12-6D70957E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35.000x faster than Python?</a:t>
            </a:r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F8B2ED6-E040-4C5F-E70E-AEA707D55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47" y="1989984"/>
            <a:ext cx="9862456" cy="2701039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2446884-BF78-6E80-F0D2-44ADD5D7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594" y="4805010"/>
            <a:ext cx="6914661" cy="98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5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4776-24F0-5368-C676-B5ACC3E9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Who is behind Mojo?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130BAB-EFF6-9AB6-91F1-E7D31676B924}"/>
              </a:ext>
            </a:extLst>
          </p:cNvPr>
          <p:cNvGrpSpPr/>
          <p:nvPr/>
        </p:nvGrpSpPr>
        <p:grpSpPr>
          <a:xfrm>
            <a:off x="5286376" y="1932635"/>
            <a:ext cx="1628067" cy="2133808"/>
            <a:chOff x="5286376" y="1932635"/>
            <a:chExt cx="1628067" cy="2133808"/>
          </a:xfrm>
        </p:grpSpPr>
        <p:pic>
          <p:nvPicPr>
            <p:cNvPr id="4" name="Picture 3" descr="Modular Logo">
              <a:extLst>
                <a:ext uri="{FF2B5EF4-FFF2-40B4-BE49-F238E27FC236}">
                  <a16:creationId xmlns:a16="http://schemas.microsoft.com/office/drawing/2014/main" id="{F2638A99-0AD1-8F88-79FC-E668BB28E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6376" y="1932635"/>
              <a:ext cx="1619250" cy="161925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90A8E0-9665-F71A-4A79-BA2CB72FA18C}"/>
                </a:ext>
              </a:extLst>
            </p:cNvPr>
            <p:cNvSpPr txBox="1"/>
            <p:nvPr/>
          </p:nvSpPr>
          <p:spPr>
            <a:xfrm>
              <a:off x="5324592" y="3697111"/>
              <a:ext cx="158985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Modular</a:t>
              </a:r>
            </a:p>
          </p:txBody>
        </p:sp>
      </p:grpSp>
      <p:pic>
        <p:nvPicPr>
          <p:cNvPr id="6" name="Picture 5" descr="Modular Logo">
            <a:extLst>
              <a:ext uri="{FF2B5EF4-FFF2-40B4-BE49-F238E27FC236}">
                <a16:creationId xmlns:a16="http://schemas.microsoft.com/office/drawing/2014/main" id="{B8CBC5A0-C3DE-F370-6AD7-E29861F1E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005" y="3879968"/>
            <a:ext cx="1619250" cy="1619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86FAD2-4BCD-A081-CBEA-1434C64B04F1}"/>
              </a:ext>
            </a:extLst>
          </p:cNvPr>
          <p:cNvSpPr txBox="1"/>
          <p:nvPr/>
        </p:nvSpPr>
        <p:spPr>
          <a:xfrm>
            <a:off x="1768592" y="5625629"/>
            <a:ext cx="15898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Modular</a:t>
            </a:r>
          </a:p>
          <a:p>
            <a:pPr algn="ctr"/>
            <a:r>
              <a:rPr lang="en-US" dirty="0"/>
              <a:t>AI Engine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AEAC5-97BA-2B7F-0281-C8FC4E53795C}"/>
              </a:ext>
            </a:extLst>
          </p:cNvPr>
          <p:cNvSpPr txBox="1"/>
          <p:nvPr/>
        </p:nvSpPr>
        <p:spPr>
          <a:xfrm>
            <a:off x="7629407" y="4092221"/>
            <a:ext cx="2794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/>
              <a:t>Mojo</a:t>
            </a:r>
            <a:r>
              <a:rPr lang="en-US" sz="2800" b="1" dirty="0">
                <a:solidFill>
                  <a:srgbClr val="020C36"/>
                </a:solidFill>
                <a:ea typeface="+mn-lt"/>
                <a:cs typeface="+mn-lt"/>
              </a:rPr>
              <a:t>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5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6E23-231B-AFF7-1C07-51C07C97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Modular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1C496-0226-1213-CB8F-CF57FA10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906" y="4380503"/>
            <a:ext cx="1671220" cy="496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Chris Lattner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B80A09-F28B-9913-CDB4-A07C43014620}"/>
              </a:ext>
            </a:extLst>
          </p:cNvPr>
          <p:cNvSpPr txBox="1">
            <a:spLocks/>
          </p:cNvSpPr>
          <p:nvPr/>
        </p:nvSpPr>
        <p:spPr>
          <a:xfrm>
            <a:off x="5596936" y="4401198"/>
            <a:ext cx="1577146" cy="4396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Tim Davis</a:t>
            </a:r>
            <a:endParaRPr lang="en-US" b="1" dirty="0"/>
          </a:p>
        </p:txBody>
      </p:sp>
      <p:pic>
        <p:nvPicPr>
          <p:cNvPr id="7" name="Picture 6" descr="A collage of two men&#10;&#10;Description automatically generated">
            <a:extLst>
              <a:ext uri="{FF2B5EF4-FFF2-40B4-BE49-F238E27FC236}">
                <a16:creationId xmlns:a16="http://schemas.microsoft.com/office/drawing/2014/main" id="{104A3020-6B42-07C4-A788-A465B3F5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807" y="2703877"/>
            <a:ext cx="2743200" cy="1544320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5127A9C-CCD1-6778-B825-6AA614E67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951141" y="4846531"/>
            <a:ext cx="2743197" cy="495162"/>
          </a:xfrm>
          <a:prstGeom prst="rect">
            <a:avLst/>
          </a:prstGeom>
        </p:spPr>
      </p:pic>
      <p:pic>
        <p:nvPicPr>
          <p:cNvPr id="14" name="Picture 13" descr="A white bird in a red square&#10;&#10;Description automatically generated">
            <a:extLst>
              <a:ext uri="{FF2B5EF4-FFF2-40B4-BE49-F238E27FC236}">
                <a16:creationId xmlns:a16="http://schemas.microsoft.com/office/drawing/2014/main" id="{71CAAF57-3E69-B91A-5E84-4952FE99D8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34" y="2198510"/>
            <a:ext cx="1012238" cy="1021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0AC88D-1C92-96EF-237F-D9E8AB555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63" y="3720042"/>
            <a:ext cx="2286000" cy="1619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72F6F4-EF32-0C40-7AFB-7C3BF2219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955" y="2132658"/>
            <a:ext cx="1049867" cy="10498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1CDE6A-3E95-2CFA-8AFF-07C2FB893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0400" y="2477979"/>
            <a:ext cx="1492015" cy="1243522"/>
          </a:xfrm>
          <a:prstGeom prst="rect">
            <a:avLst/>
          </a:prstGeom>
        </p:spPr>
      </p:pic>
      <p:pic>
        <p:nvPicPr>
          <p:cNvPr id="18" name="Picture 17" descr="A colorful letter g&#10;&#10;Description automatically generated">
            <a:extLst>
              <a:ext uri="{FF2B5EF4-FFF2-40B4-BE49-F238E27FC236}">
                <a16:creationId xmlns:a16="http://schemas.microsoft.com/office/drawing/2014/main" id="{F55F2CAF-33CF-C2D5-5AE0-A530B30A39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1363" y="2377251"/>
            <a:ext cx="1520237" cy="15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1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56DA-7015-7969-1791-00360C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is Mojo?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B416-5839-53EB-9FDE-19CB70DEE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303472-46F7-B47F-274A-2774E34A4C69}"/>
              </a:ext>
            </a:extLst>
          </p:cNvPr>
          <p:cNvGrpSpPr/>
          <p:nvPr/>
        </p:nvGrpSpPr>
        <p:grpSpPr>
          <a:xfrm>
            <a:off x="4119720" y="2077589"/>
            <a:ext cx="3010370" cy="3819407"/>
            <a:chOff x="1081852" y="2116666"/>
            <a:chExt cx="3010370" cy="38194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3F7871A-AC6B-3CAC-14FE-683F6E889D17}"/>
                </a:ext>
              </a:extLst>
            </p:cNvPr>
            <p:cNvSpPr/>
            <p:nvPr/>
          </p:nvSpPr>
          <p:spPr>
            <a:xfrm>
              <a:off x="1081852" y="2116666"/>
              <a:ext cx="3010370" cy="3819407"/>
            </a:xfrm>
            <a:prstGeom prst="ellipse">
              <a:avLst/>
            </a:prstGeom>
            <a:solidFill>
              <a:srgbClr val="9CCAF0"/>
            </a:solidFill>
            <a:ln>
              <a:solidFill>
                <a:srgbClr val="9CCA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20C13"/>
                </a:solidFill>
                <a:latin typeface="TT Hove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FD078D-9291-CC80-9E31-3EDC1F56199B}"/>
                </a:ext>
              </a:extLst>
            </p:cNvPr>
            <p:cNvSpPr txBox="1"/>
            <p:nvPr/>
          </p:nvSpPr>
          <p:spPr>
            <a:xfrm>
              <a:off x="1884014" y="2870344"/>
              <a:ext cx="139794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 dirty="0">
                  <a:solidFill>
                    <a:srgbClr val="020C13"/>
                  </a:solidFill>
                </a:rPr>
                <a:t>Mojo </a:t>
              </a:r>
              <a:endParaRPr lang="en-US" sz="3600" b="1" dirty="0"/>
            </a:p>
          </p:txBody>
        </p:sp>
        <p:pic>
          <p:nvPicPr>
            <p:cNvPr id="6" name="Graphic 5" descr="Fire with solid fill">
              <a:extLst>
                <a:ext uri="{FF2B5EF4-FFF2-40B4-BE49-F238E27FC236}">
                  <a16:creationId xmlns:a16="http://schemas.microsoft.com/office/drawing/2014/main" id="{9E87F33D-AEF3-E191-7F1E-B7D775754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16304" y="3002555"/>
              <a:ext cx="509882" cy="46284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A1A68D-29D5-0419-7F2C-E375C6FB0673}"/>
              </a:ext>
            </a:extLst>
          </p:cNvPr>
          <p:cNvSpPr txBox="1"/>
          <p:nvPr/>
        </p:nvSpPr>
        <p:spPr>
          <a:xfrm>
            <a:off x="752230" y="2207846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Standalone language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0E5E6F-B71F-7B6B-EAA6-241F7B252DA9}"/>
              </a:ext>
            </a:extLst>
          </p:cNvPr>
          <p:cNvGrpSpPr/>
          <p:nvPr/>
        </p:nvGrpSpPr>
        <p:grpSpPr>
          <a:xfrm>
            <a:off x="752229" y="2940538"/>
            <a:ext cx="6076823" cy="2826202"/>
            <a:chOff x="752229" y="2940538"/>
            <a:chExt cx="6076823" cy="282620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0557D6-53C4-C5D6-C511-28C7C6A496D1}"/>
                </a:ext>
              </a:extLst>
            </p:cNvPr>
            <p:cNvGrpSpPr/>
            <p:nvPr/>
          </p:nvGrpSpPr>
          <p:grpSpPr>
            <a:xfrm>
              <a:off x="4439572" y="3584223"/>
              <a:ext cx="2389480" cy="2182517"/>
              <a:chOff x="1373480" y="3659482"/>
              <a:chExt cx="2389480" cy="2182517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BDB75B-D4B4-E1C0-46E5-46AF961E1384}"/>
                  </a:ext>
                </a:extLst>
              </p:cNvPr>
              <p:cNvSpPr/>
              <p:nvPr/>
            </p:nvSpPr>
            <p:spPr>
              <a:xfrm>
                <a:off x="1373480" y="3659482"/>
                <a:ext cx="2389480" cy="218251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8" descr="A blue and yellow snake logo&#10;&#10;Description automatically generated">
                <a:extLst>
                  <a:ext uri="{FF2B5EF4-FFF2-40B4-BE49-F238E27FC236}">
                    <a16:creationId xmlns:a16="http://schemas.microsoft.com/office/drawing/2014/main" id="{49F171D0-98C3-00F8-E08A-CF0A502943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9350" y="4108332"/>
                <a:ext cx="1095375" cy="1200150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15B9AF-5B54-39D2-018A-BCDAC0A9CE26}"/>
                  </a:ext>
                </a:extLst>
              </p:cNvPr>
              <p:cNvSpPr/>
              <p:nvPr/>
            </p:nvSpPr>
            <p:spPr>
              <a:xfrm>
                <a:off x="2079036" y="5183481"/>
                <a:ext cx="903111" cy="2634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17482C-3B04-2BC1-4CDB-650AA0F905E3}"/>
                </a:ext>
              </a:extLst>
            </p:cNvPr>
            <p:cNvSpPr txBox="1"/>
            <p:nvPr/>
          </p:nvSpPr>
          <p:spPr>
            <a:xfrm>
              <a:off x="752229" y="2940538"/>
              <a:ext cx="315546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Superset of Python*</a:t>
              </a:r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E7916E8-4436-D979-94AC-356710CA0413}"/>
              </a:ext>
            </a:extLst>
          </p:cNvPr>
          <p:cNvSpPr txBox="1"/>
          <p:nvPr/>
        </p:nvSpPr>
        <p:spPr>
          <a:xfrm>
            <a:off x="748321" y="3669323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JIT &amp; AOT Compilation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BB0D-63E0-1D19-C44A-5DB9154C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Just In Time Compilation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121B-A379-B445-5F46-379CDA159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499" y="2202688"/>
            <a:ext cx="7494041" cy="2689832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def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A6E22E"/>
                </a:solidFill>
                <a:latin typeface="Consolas"/>
                <a:ea typeface="+mn-lt"/>
                <a:cs typeface="+mn-lt"/>
              </a:rPr>
              <a:t>matmul_untyped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(C,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m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rows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    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+=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*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B[k,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endParaRPr lang="en-US" sz="2200" dirty="0">
              <a:solidFill>
                <a:srgbClr val="F8F8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23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BB0D-63E0-1D19-C44A-5DB9154C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Ahead Of Time Compilation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121B-A379-B445-5F46-379CDA159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499" y="2202688"/>
            <a:ext cx="7494041" cy="2689832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 err="1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2200" dirty="0" err="1">
                <a:solidFill>
                  <a:srgbClr val="A6E22E"/>
                </a:solidFill>
                <a:latin typeface="Consolas"/>
                <a:ea typeface="+mn-lt"/>
                <a:cs typeface="+mn-lt"/>
              </a:rPr>
              <a:t>matmul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(C: Matrix,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A: Matrix,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B: Matrix):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m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dirty="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rows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</a:t>
            </a:r>
            <a:r>
              <a:rPr lang="en-US" sz="2200" dirty="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 </a:t>
            </a:r>
            <a:r>
              <a:rPr lang="en-US" sz="2200" dirty="0">
                <a:solidFill>
                  <a:srgbClr val="66D9EF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range(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2200" dirty="0" err="1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2200" dirty="0" err="1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cols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):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
               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C[m,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+=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A[m,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k]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92672"/>
                </a:solidFill>
                <a:latin typeface="Consolas"/>
                <a:ea typeface="+mn-lt"/>
                <a:cs typeface="+mn-lt"/>
              </a:rPr>
              <a:t>*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B[k,</a:t>
            </a:r>
            <a:r>
              <a:rPr lang="en-US" sz="2200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F8F8F2"/>
                </a:solidFill>
                <a:latin typeface="Consolas"/>
                <a:ea typeface="+mn-lt"/>
                <a:cs typeface="+mn-lt"/>
              </a:rPr>
              <a:t>n]</a:t>
            </a:r>
            <a:endParaRPr lang="en-US" sz="2200" dirty="0">
              <a:solidFill>
                <a:srgbClr val="F8F8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93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56DA-7015-7969-1791-00360C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is Mojo?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B416-5839-53EB-9FDE-19CB70DEE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303472-46F7-B47F-274A-2774E34A4C69}"/>
              </a:ext>
            </a:extLst>
          </p:cNvPr>
          <p:cNvGrpSpPr/>
          <p:nvPr/>
        </p:nvGrpSpPr>
        <p:grpSpPr>
          <a:xfrm>
            <a:off x="4129127" y="2077589"/>
            <a:ext cx="3010370" cy="3819407"/>
            <a:chOff x="1081852" y="2116666"/>
            <a:chExt cx="3010370" cy="38194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3F7871A-AC6B-3CAC-14FE-683F6E889D17}"/>
                </a:ext>
              </a:extLst>
            </p:cNvPr>
            <p:cNvSpPr/>
            <p:nvPr/>
          </p:nvSpPr>
          <p:spPr>
            <a:xfrm>
              <a:off x="1081852" y="2116666"/>
              <a:ext cx="3010370" cy="3819407"/>
            </a:xfrm>
            <a:prstGeom prst="ellipse">
              <a:avLst/>
            </a:prstGeom>
            <a:solidFill>
              <a:srgbClr val="9CCAF0"/>
            </a:solidFill>
            <a:ln>
              <a:solidFill>
                <a:srgbClr val="9CCA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20C13"/>
                </a:solidFill>
                <a:latin typeface="TT Hove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FD078D-9291-CC80-9E31-3EDC1F56199B}"/>
                </a:ext>
              </a:extLst>
            </p:cNvPr>
            <p:cNvSpPr txBox="1"/>
            <p:nvPr/>
          </p:nvSpPr>
          <p:spPr>
            <a:xfrm>
              <a:off x="1884014" y="2870344"/>
              <a:ext cx="139794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 dirty="0">
                  <a:solidFill>
                    <a:srgbClr val="020C13"/>
                  </a:solidFill>
                </a:rPr>
                <a:t>Mojo </a:t>
              </a:r>
              <a:endParaRPr lang="en-US" sz="3600" b="1" dirty="0"/>
            </a:p>
          </p:txBody>
        </p:sp>
        <p:pic>
          <p:nvPicPr>
            <p:cNvPr id="6" name="Graphic 5" descr="Fire with solid fill">
              <a:extLst>
                <a:ext uri="{FF2B5EF4-FFF2-40B4-BE49-F238E27FC236}">
                  <a16:creationId xmlns:a16="http://schemas.microsoft.com/office/drawing/2014/main" id="{9E87F33D-AEF3-E191-7F1E-B7D775754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6304" y="3002555"/>
              <a:ext cx="509882" cy="46284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0557D6-53C4-C5D6-C511-28C7C6A496D1}"/>
              </a:ext>
            </a:extLst>
          </p:cNvPr>
          <p:cNvGrpSpPr/>
          <p:nvPr/>
        </p:nvGrpSpPr>
        <p:grpSpPr>
          <a:xfrm>
            <a:off x="4439572" y="3584223"/>
            <a:ext cx="2389480" cy="2182517"/>
            <a:chOff x="1373480" y="3659482"/>
            <a:chExt cx="2389480" cy="21825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BDB75B-D4B4-E1C0-46E5-46AF961E1384}"/>
                </a:ext>
              </a:extLst>
            </p:cNvPr>
            <p:cNvSpPr/>
            <p:nvPr/>
          </p:nvSpPr>
          <p:spPr>
            <a:xfrm>
              <a:off x="1373480" y="3659482"/>
              <a:ext cx="2389480" cy="218251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blue and yellow snake logo&#10;&#10;Description automatically generated">
              <a:extLst>
                <a:ext uri="{FF2B5EF4-FFF2-40B4-BE49-F238E27FC236}">
                  <a16:creationId xmlns:a16="http://schemas.microsoft.com/office/drawing/2014/main" id="{49F171D0-98C3-00F8-E08A-CF0A50294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9350" y="4108332"/>
              <a:ext cx="1095375" cy="120015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15B9AF-5B54-39D2-018A-BCDAC0A9CE26}"/>
                </a:ext>
              </a:extLst>
            </p:cNvPr>
            <p:cNvSpPr/>
            <p:nvPr/>
          </p:nvSpPr>
          <p:spPr>
            <a:xfrm>
              <a:off x="2079036" y="5183481"/>
              <a:ext cx="903111" cy="263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A1A68D-29D5-0419-7F2C-E375C6FB0673}"/>
              </a:ext>
            </a:extLst>
          </p:cNvPr>
          <p:cNvSpPr txBox="1"/>
          <p:nvPr/>
        </p:nvSpPr>
        <p:spPr>
          <a:xfrm>
            <a:off x="752230" y="2207846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Standalone 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7482C-3B04-2BC1-4CDB-650AA0F905E3}"/>
              </a:ext>
            </a:extLst>
          </p:cNvPr>
          <p:cNvSpPr txBox="1"/>
          <p:nvPr/>
        </p:nvSpPr>
        <p:spPr>
          <a:xfrm>
            <a:off x="752229" y="2940538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Superset of Python*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916E8-4436-D979-94AC-356710CA0413}"/>
              </a:ext>
            </a:extLst>
          </p:cNvPr>
          <p:cNvSpPr txBox="1"/>
          <p:nvPr/>
        </p:nvSpPr>
        <p:spPr>
          <a:xfrm>
            <a:off x="748321" y="3669323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Interpreted &amp; Compiled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4BF2E-DA5A-D530-4A3B-E1120B0C4A60}"/>
              </a:ext>
            </a:extLst>
          </p:cNvPr>
          <p:cNvSpPr txBox="1"/>
          <p:nvPr/>
        </p:nvSpPr>
        <p:spPr>
          <a:xfrm>
            <a:off x="7924798" y="2209800"/>
            <a:ext cx="31554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Borrow checker &amp; Ownership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1A11DA-2450-7406-992A-4FE27AC7C5E1}"/>
              </a:ext>
            </a:extLst>
          </p:cNvPr>
          <p:cNvSpPr txBox="1"/>
          <p:nvPr/>
        </p:nvSpPr>
        <p:spPr>
          <a:xfrm>
            <a:off x="7989275" y="3117326"/>
            <a:ext cx="3155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Competitor to Rust &amp; Julia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8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3A7A-6343-B303-8E12-6D70957E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Mojo is faster than Python</a:t>
            </a:r>
            <a:endParaRPr lang="en-US" dirty="0"/>
          </a:p>
        </p:txBody>
      </p:sp>
      <p:pic>
        <p:nvPicPr>
          <p:cNvPr id="4" name="Content Placeholder 3" descr="A black square with a fire on it&#10;&#10;Description automatically generated">
            <a:extLst>
              <a:ext uri="{FF2B5EF4-FFF2-40B4-BE49-F238E27FC236}">
                <a16:creationId xmlns:a16="http://schemas.microsoft.com/office/drawing/2014/main" id="{4D93BE8D-565A-68D8-EA67-FB906E1E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3922" y="2260237"/>
            <a:ext cx="6096000" cy="3429000"/>
          </a:xfr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F61C4FF-F588-75C5-9733-59C6BDE6E2C6}"/>
              </a:ext>
            </a:extLst>
          </p:cNvPr>
          <p:cNvGrpSpPr/>
          <p:nvPr/>
        </p:nvGrpSpPr>
        <p:grpSpPr>
          <a:xfrm>
            <a:off x="206829" y="6855515"/>
            <a:ext cx="3953919" cy="4386337"/>
            <a:chOff x="122296" y="1897811"/>
            <a:chExt cx="3953919" cy="43863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FFED04-3405-E0B4-671C-E552479D4EC8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226FC8D-2B78-47D3-7FF6-A877687CF1A8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1372342-B3DE-D18B-9C6B-12A224C34DBB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276AF0-EA81-D097-3A69-C48A42D71F5D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7FBAE2-AE60-50BE-ABEA-316108609017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94E3D4D-8B84-DEBA-9A69-3CB7632FF58E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74D1A7-0456-05CD-03B8-AD7F8019FC6C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03026B5-7723-571E-A46E-09ACD7443606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C1C3429-8D30-A478-E955-5EF1801C989C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5F95AFF-8C25-5652-CEF3-404DC775AEF5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83F37879-FB81-8921-00BD-D04BFEF83B99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9BD7E3-86F2-A38A-2A18-E7E0983B438D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C142F1CF-7642-F2C9-82FC-EE3869AC9DAC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DA7A2CF-CEA3-505E-D7EE-D5865ACC8EC7}"/>
              </a:ext>
            </a:extLst>
          </p:cNvPr>
          <p:cNvGrpSpPr/>
          <p:nvPr/>
        </p:nvGrpSpPr>
        <p:grpSpPr>
          <a:xfrm>
            <a:off x="4162480" y="8755811"/>
            <a:ext cx="3945002" cy="4386337"/>
            <a:chOff x="4057402" y="0"/>
            <a:chExt cx="4067297" cy="49601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5B3A94-A9E9-4C77-7FD8-D8DE169BC227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D1CE13-06A8-A4C9-1A37-ACE6BD2D6001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A0FBADF-1698-7260-09A4-5EF021469592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60D0233-09BB-5CCF-971C-AC3F8D662AF6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2" name="Picture 31" descr="mlir-identity-01.png">
              <a:extLst>
                <a:ext uri="{FF2B5EF4-FFF2-40B4-BE49-F238E27FC236}">
                  <a16:creationId xmlns:a16="http://schemas.microsoft.com/office/drawing/2014/main" id="{C575C9A8-4769-A592-E318-CB0FC2287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EACE9F-4833-9D1C-ABF0-03B0381DE924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DA21C79-2D14-DAC4-79F8-D7E807DD1845}"/>
              </a:ext>
            </a:extLst>
          </p:cNvPr>
          <p:cNvGrpSpPr/>
          <p:nvPr/>
        </p:nvGrpSpPr>
        <p:grpSpPr>
          <a:xfrm>
            <a:off x="8102513" y="10639244"/>
            <a:ext cx="3954409" cy="4381900"/>
            <a:chOff x="8124701" y="-1"/>
            <a:chExt cx="4067297" cy="497456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65AC7E4-F664-94CA-4486-2FE29F2AE6C4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0F0081F-97DD-9FB7-EA8F-D4555A474A8F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0CE11D3-0AB6-FC7F-716C-7BEF17238D8F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C08A1A8-127F-419F-487A-05F47BBE8747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1" name="Picture 60" descr="Small Wyvern logo">
              <a:extLst>
                <a:ext uri="{FF2B5EF4-FFF2-40B4-BE49-F238E27FC236}">
                  <a16:creationId xmlns:a16="http://schemas.microsoft.com/office/drawing/2014/main" id="{0E75C279-771F-359D-E7B7-764DA8969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61FEA56-C791-0ED9-36EF-BF998FAD1BA1}"/>
                </a:ext>
              </a:extLst>
            </p:cNvPr>
            <p:cNvSpPr txBox="1"/>
            <p:nvPr/>
          </p:nvSpPr>
          <p:spPr>
            <a:xfrm>
              <a:off x="8831721" y="3729558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8391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F5881-82E1-0A1E-E2A3-CBB605D414DD}"/>
              </a:ext>
            </a:extLst>
          </p:cNvPr>
          <p:cNvGrpSpPr/>
          <p:nvPr/>
        </p:nvGrpSpPr>
        <p:grpSpPr>
          <a:xfrm>
            <a:off x="8030626" y="1897810"/>
            <a:ext cx="3954409" cy="4381900"/>
            <a:chOff x="8124701" y="-1"/>
            <a:chExt cx="4067297" cy="4974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831721" y="3526641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9B28FB-28F7-C6A3-D530-33C9CFA2641D}"/>
              </a:ext>
            </a:extLst>
          </p:cNvPr>
          <p:cNvGrpSpPr/>
          <p:nvPr/>
        </p:nvGrpSpPr>
        <p:grpSpPr>
          <a:xfrm>
            <a:off x="4076216" y="1897811"/>
            <a:ext cx="3945002" cy="4386337"/>
            <a:chOff x="4057402" y="0"/>
            <a:chExt cx="4067297" cy="49601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F08CA7-087E-AB84-6775-6AA11906C613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3DB8DF-E502-7791-F30B-3CBF75B0677D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61D1AE-7C33-6D93-0621-4584683F1C95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B13811-3841-2CFF-E4DB-BEF0DD2F91A3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 descr="mlir-identity-01.png">
              <a:extLst>
                <a:ext uri="{FF2B5EF4-FFF2-40B4-BE49-F238E27FC236}">
                  <a16:creationId xmlns:a16="http://schemas.microsoft.com/office/drawing/2014/main" id="{1E5AA200-3F44-7EDD-579A-E487ABFC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1CA3B2-7C31-0E4C-88F0-AB56E88D62DD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F41C9-15B6-6DA0-3A4E-F660F208F32F}"/>
              </a:ext>
            </a:extLst>
          </p:cNvPr>
          <p:cNvGrpSpPr/>
          <p:nvPr/>
        </p:nvGrpSpPr>
        <p:grpSpPr>
          <a:xfrm>
            <a:off x="122296" y="1897811"/>
            <a:ext cx="3953919" cy="4386337"/>
            <a:chOff x="122296" y="1897811"/>
            <a:chExt cx="3953919" cy="43863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B8F5FD-7399-8B54-4CD4-91EB70AE6A7F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5B611D-BD4F-F97F-9753-6071F25F68DA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313E46-C649-B768-96F2-702A91265443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501C04-E89E-1DD2-B4FB-DD72B865550E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C6E4D7-6C41-57CF-F188-EA75BD06646F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850776-8225-B731-BC41-4BDE147CC151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07BDB0-BABF-8D52-C536-5741F3C5B48B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592DC8F-5297-BF8F-7B79-56CE1B28D4A2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94472E63-1B59-A328-DE8A-3D43B55C345D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4670E6F-BD50-2AC1-406A-2AEA435815DE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757A771-005A-9C86-BDE8-A395688FF9CC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C5DAB9-CB80-D74E-096F-36FDFCC69A4F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050EF2C-E791-454D-9420-E32CA13BF843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makes Mojo so fast?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470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F41C9-15B6-6DA0-3A4E-F660F208F32F}"/>
              </a:ext>
            </a:extLst>
          </p:cNvPr>
          <p:cNvGrpSpPr/>
          <p:nvPr/>
        </p:nvGrpSpPr>
        <p:grpSpPr>
          <a:xfrm>
            <a:off x="122296" y="1897811"/>
            <a:ext cx="3953919" cy="4386337"/>
            <a:chOff x="122296" y="1897811"/>
            <a:chExt cx="3953919" cy="43863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B8F5FD-7399-8B54-4CD4-91EB70AE6A7F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5B611D-BD4F-F97F-9753-6071F25F68DA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313E46-C649-B768-96F2-702A91265443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501C04-E89E-1DD2-B4FB-DD72B865550E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C6E4D7-6C41-57CF-F188-EA75BD06646F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850776-8225-B731-BC41-4BDE147CC151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07BDB0-BABF-8D52-C536-5741F3C5B48B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592DC8F-5297-BF8F-7B79-56CE1B28D4A2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94472E63-1B59-A328-DE8A-3D43B55C345D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4670E6F-BD50-2AC1-406A-2AEA435815DE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757A771-005A-9C86-BDE8-A395688FF9CC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C5DAB9-CB80-D74E-096F-36FDFCC69A4F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050EF2C-E791-454D-9420-E32CA13BF843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Single Instruction, Multiple Data</a:t>
            </a:r>
            <a:endParaRPr lang="en-US" dirty="0"/>
          </a:p>
        </p:txBody>
      </p:sp>
      <p:pic>
        <p:nvPicPr>
          <p:cNvPr id="5" name="Picture 4" descr="undefined">
            <a:extLst>
              <a:ext uri="{FF2B5EF4-FFF2-40B4-BE49-F238E27FC236}">
                <a16:creationId xmlns:a16="http://schemas.microsoft.com/office/drawing/2014/main" id="{F8D1C056-EAC5-8695-78E6-70A8BAD39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65" y="2686268"/>
            <a:ext cx="2743200" cy="282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9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F5881-82E1-0A1E-E2A3-CBB605D414DD}"/>
              </a:ext>
            </a:extLst>
          </p:cNvPr>
          <p:cNvGrpSpPr/>
          <p:nvPr/>
        </p:nvGrpSpPr>
        <p:grpSpPr>
          <a:xfrm>
            <a:off x="8030626" y="1897810"/>
            <a:ext cx="3954409" cy="4381900"/>
            <a:chOff x="8124701" y="-1"/>
            <a:chExt cx="4067297" cy="4974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880101" y="3515962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9B28FB-28F7-C6A3-D530-33C9CFA2641D}"/>
              </a:ext>
            </a:extLst>
          </p:cNvPr>
          <p:cNvGrpSpPr/>
          <p:nvPr/>
        </p:nvGrpSpPr>
        <p:grpSpPr>
          <a:xfrm>
            <a:off x="4076216" y="1897811"/>
            <a:ext cx="3945002" cy="4386337"/>
            <a:chOff x="4057402" y="0"/>
            <a:chExt cx="4067297" cy="49601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F08CA7-087E-AB84-6775-6AA11906C613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3DB8DF-E502-7791-F30B-3CBF75B0677D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61D1AE-7C33-6D93-0621-4584683F1C95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B13811-3841-2CFF-E4DB-BEF0DD2F91A3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 descr="mlir-identity-01.png">
              <a:extLst>
                <a:ext uri="{FF2B5EF4-FFF2-40B4-BE49-F238E27FC236}">
                  <a16:creationId xmlns:a16="http://schemas.microsoft.com/office/drawing/2014/main" id="{1E5AA200-3F44-7EDD-579A-E487ABFC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1CA3B2-7C31-0E4C-88F0-AB56E88D62DD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F41C9-15B6-6DA0-3A4E-F660F208F32F}"/>
              </a:ext>
            </a:extLst>
          </p:cNvPr>
          <p:cNvGrpSpPr/>
          <p:nvPr/>
        </p:nvGrpSpPr>
        <p:grpSpPr>
          <a:xfrm>
            <a:off x="122296" y="1897811"/>
            <a:ext cx="3953919" cy="4386337"/>
            <a:chOff x="122296" y="1897811"/>
            <a:chExt cx="3953919" cy="43863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B8F5FD-7399-8B54-4CD4-91EB70AE6A7F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5B611D-BD4F-F97F-9753-6071F25F68DA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313E46-C649-B768-96F2-702A91265443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501C04-E89E-1DD2-B4FB-DD72B865550E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C6E4D7-6C41-57CF-F188-EA75BD06646F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850776-8225-B731-BC41-4BDE147CC151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07BDB0-BABF-8D52-C536-5741F3C5B48B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592DC8F-5297-BF8F-7B79-56CE1B28D4A2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94472E63-1B59-A328-DE8A-3D43B55C345D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4670E6F-BD50-2AC1-406A-2AEA435815DE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757A771-005A-9C86-BDE8-A395688FF9CC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C5DAB9-CB80-D74E-096F-36FDFCC69A4F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050EF2C-E791-454D-9420-E32CA13BF843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makes Mojo so fast?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7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282CF4B-1E62-3E9B-CB5D-71BE13571E04}"/>
              </a:ext>
            </a:extLst>
          </p:cNvPr>
          <p:cNvSpPr/>
          <p:nvPr/>
        </p:nvSpPr>
        <p:spPr>
          <a:xfrm>
            <a:off x="4789715" y="2024741"/>
            <a:ext cx="2623456" cy="2928257"/>
          </a:xfrm>
          <a:prstGeom prst="rect">
            <a:avLst/>
          </a:prstGeom>
          <a:solidFill>
            <a:srgbClr val="C6E0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F5881-82E1-0A1E-E2A3-CBB605D414DD}"/>
              </a:ext>
            </a:extLst>
          </p:cNvPr>
          <p:cNvGrpSpPr/>
          <p:nvPr/>
        </p:nvGrpSpPr>
        <p:grpSpPr>
          <a:xfrm>
            <a:off x="127598" y="1897810"/>
            <a:ext cx="3954409" cy="4381900"/>
            <a:chOff x="8124701" y="-1"/>
            <a:chExt cx="4067297" cy="4974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831721" y="3729558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9B28FB-28F7-C6A3-D530-33C9CFA2641D}"/>
              </a:ext>
            </a:extLst>
          </p:cNvPr>
          <p:cNvGrpSpPr/>
          <p:nvPr/>
        </p:nvGrpSpPr>
        <p:grpSpPr>
          <a:xfrm>
            <a:off x="124702" y="1897811"/>
            <a:ext cx="3945002" cy="4386337"/>
            <a:chOff x="4057402" y="0"/>
            <a:chExt cx="4067297" cy="49601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F08CA7-087E-AB84-6775-6AA11906C613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3DB8DF-E502-7791-F30B-3CBF75B0677D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61D1AE-7C33-6D93-0621-4584683F1C95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B13811-3841-2CFF-E4DB-BEF0DD2F91A3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 descr="mlir-identity-01.png">
              <a:extLst>
                <a:ext uri="{FF2B5EF4-FFF2-40B4-BE49-F238E27FC236}">
                  <a16:creationId xmlns:a16="http://schemas.microsoft.com/office/drawing/2014/main" id="{1E5AA200-3F44-7EDD-579A-E487ABFC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1CA3B2-7C31-0E4C-88F0-AB56E88D62DD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Multi-Level Intermediate Representation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642E446-6D2C-08B6-F2FF-D7698C410106}"/>
              </a:ext>
            </a:extLst>
          </p:cNvPr>
          <p:cNvSpPr/>
          <p:nvPr/>
        </p:nvSpPr>
        <p:spPr>
          <a:xfrm>
            <a:off x="5834742" y="5029199"/>
            <a:ext cx="544285" cy="5007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5FD23-E25D-C948-16CF-AC35A5238761}"/>
              </a:ext>
            </a:extLst>
          </p:cNvPr>
          <p:cNvSpPr txBox="1"/>
          <p:nvPr/>
        </p:nvSpPr>
        <p:spPr>
          <a:xfrm>
            <a:off x="4735285" y="5497285"/>
            <a:ext cx="29064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Assembly / Machine code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16C9E-C7C7-57AA-5232-8F3360349F55}"/>
              </a:ext>
            </a:extLst>
          </p:cNvPr>
          <p:cNvSpPr txBox="1"/>
          <p:nvPr/>
        </p:nvSpPr>
        <p:spPr>
          <a:xfrm>
            <a:off x="4691742" y="4495799"/>
            <a:ext cx="2906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LLVM IR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2E955-5F59-6EB3-4567-A750E1E588F2}"/>
              </a:ext>
            </a:extLst>
          </p:cNvPr>
          <p:cNvSpPr txBox="1"/>
          <p:nvPr/>
        </p:nvSpPr>
        <p:spPr>
          <a:xfrm>
            <a:off x="4735284" y="3407227"/>
            <a:ext cx="2906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Hardware Acc IR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F2448FD-C890-17B8-72A4-7056B5326A31}"/>
              </a:ext>
            </a:extLst>
          </p:cNvPr>
          <p:cNvSpPr/>
          <p:nvPr/>
        </p:nvSpPr>
        <p:spPr>
          <a:xfrm>
            <a:off x="5834742" y="3918856"/>
            <a:ext cx="544285" cy="5007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845694D-7038-E6B3-4020-EBE910F6A16D}"/>
              </a:ext>
            </a:extLst>
          </p:cNvPr>
          <p:cNvSpPr/>
          <p:nvPr/>
        </p:nvSpPr>
        <p:spPr>
          <a:xfrm>
            <a:off x="5834742" y="2906484"/>
            <a:ext cx="544285" cy="5007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2C96A-6522-1798-B452-D8D84469CFE9}"/>
              </a:ext>
            </a:extLst>
          </p:cNvPr>
          <p:cNvSpPr txBox="1"/>
          <p:nvPr/>
        </p:nvSpPr>
        <p:spPr>
          <a:xfrm>
            <a:off x="4735284" y="2264227"/>
            <a:ext cx="2906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Code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FFDC1-7A1B-90B9-6F56-E5DF33B836A6}"/>
              </a:ext>
            </a:extLst>
          </p:cNvPr>
          <p:cNvSpPr txBox="1"/>
          <p:nvPr/>
        </p:nvSpPr>
        <p:spPr>
          <a:xfrm>
            <a:off x="8349342" y="2177142"/>
            <a:ext cx="2906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/>
              <a:t>Dialects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73EDF-593E-5626-7669-19E16E4E7462}"/>
              </a:ext>
            </a:extLst>
          </p:cNvPr>
          <p:cNvSpPr txBox="1"/>
          <p:nvPr/>
        </p:nvSpPr>
        <p:spPr>
          <a:xfrm>
            <a:off x="8349342" y="3298370"/>
            <a:ext cx="3124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Add newer hardware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0516C0-4590-833D-0D3B-30B5565D4BE3}"/>
              </a:ext>
            </a:extLst>
          </p:cNvPr>
          <p:cNvSpPr txBox="1"/>
          <p:nvPr/>
        </p:nvSpPr>
        <p:spPr>
          <a:xfrm>
            <a:off x="8349342" y="4463141"/>
            <a:ext cx="31241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Reduce to single LLVM 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76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4" grpId="0"/>
      <p:bldP spid="5" grpId="0"/>
      <p:bldP spid="6" grpId="0"/>
      <p:bldP spid="7" grpId="0" animBg="1"/>
      <p:bldP spid="9" grpId="0" animBg="1"/>
      <p:bldP spid="10" grpId="0"/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F5881-82E1-0A1E-E2A3-CBB605D414DD}"/>
              </a:ext>
            </a:extLst>
          </p:cNvPr>
          <p:cNvGrpSpPr/>
          <p:nvPr/>
        </p:nvGrpSpPr>
        <p:grpSpPr>
          <a:xfrm>
            <a:off x="8030626" y="1897810"/>
            <a:ext cx="3954409" cy="4381900"/>
            <a:chOff x="8124701" y="-1"/>
            <a:chExt cx="4067297" cy="4974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831721" y="3569361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9B28FB-28F7-C6A3-D530-33C9CFA2641D}"/>
              </a:ext>
            </a:extLst>
          </p:cNvPr>
          <p:cNvGrpSpPr/>
          <p:nvPr/>
        </p:nvGrpSpPr>
        <p:grpSpPr>
          <a:xfrm>
            <a:off x="4076216" y="1897811"/>
            <a:ext cx="3945002" cy="4386337"/>
            <a:chOff x="4057402" y="0"/>
            <a:chExt cx="4067297" cy="49601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F08CA7-087E-AB84-6775-6AA11906C613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3DB8DF-E502-7791-F30B-3CBF75B0677D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61D1AE-7C33-6D93-0621-4584683F1C95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B13811-3841-2CFF-E4DB-BEF0DD2F91A3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 descr="mlir-identity-01.png">
              <a:extLst>
                <a:ext uri="{FF2B5EF4-FFF2-40B4-BE49-F238E27FC236}">
                  <a16:creationId xmlns:a16="http://schemas.microsoft.com/office/drawing/2014/main" id="{1E5AA200-3F44-7EDD-579A-E487ABFC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1CA3B2-7C31-0E4C-88F0-AB56E88D62DD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F41C9-15B6-6DA0-3A4E-F660F208F32F}"/>
              </a:ext>
            </a:extLst>
          </p:cNvPr>
          <p:cNvGrpSpPr/>
          <p:nvPr/>
        </p:nvGrpSpPr>
        <p:grpSpPr>
          <a:xfrm>
            <a:off x="122296" y="1897811"/>
            <a:ext cx="3953919" cy="4386337"/>
            <a:chOff x="122296" y="1897811"/>
            <a:chExt cx="3953919" cy="43863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B8F5FD-7399-8B54-4CD4-91EB70AE6A7F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5B611D-BD4F-F97F-9753-6071F25F68DA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313E46-C649-B768-96F2-702A91265443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501C04-E89E-1DD2-B4FB-DD72B865550E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C6E4D7-6C41-57CF-F188-EA75BD06646F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850776-8225-B731-BC41-4BDE147CC151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07BDB0-BABF-8D52-C536-5741F3C5B48B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592DC8F-5297-BF8F-7B79-56CE1B28D4A2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94472E63-1B59-A328-DE8A-3D43B55C345D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4670E6F-BD50-2AC1-406A-2AEA435815DE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757A771-005A-9C86-BDE8-A395688FF9CC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C5DAB9-CB80-D74E-096F-36FDFCC69A4F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050EF2C-E791-454D-9420-E32CA13BF843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makes Mojo so fast?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BEF7CF-64E8-DB68-B899-E7669ED4B6B8}"/>
              </a:ext>
            </a:extLst>
          </p:cNvPr>
          <p:cNvGrpSpPr/>
          <p:nvPr/>
        </p:nvGrpSpPr>
        <p:grpSpPr>
          <a:xfrm>
            <a:off x="573911" y="1886924"/>
            <a:ext cx="3954409" cy="4381900"/>
            <a:chOff x="7997969" y="1897810"/>
            <a:chExt cx="3954409" cy="43819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7997969" y="1897810"/>
              <a:ext cx="3954409" cy="43819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8902383" y="2760801"/>
              <a:ext cx="2299523" cy="2083383"/>
              <a:chOff x="821376" y="2147455"/>
              <a:chExt cx="2365168" cy="2365167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5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1812" y="3131288"/>
              <a:ext cx="2051291" cy="116673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685366" y="5183032"/>
              <a:ext cx="2568923" cy="8133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Low Level Virtual Machine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F82DF-1509-1D64-2754-6ED5EB06C53E}"/>
              </a:ext>
            </a:extLst>
          </p:cNvPr>
          <p:cNvSpPr txBox="1"/>
          <p:nvPr/>
        </p:nvSpPr>
        <p:spPr>
          <a:xfrm>
            <a:off x="5654151" y="2273718"/>
            <a:ext cx="5344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Developed by Chris Lattner in 2002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4ECB7-18B8-2AD2-6E0F-8E70736C9501}"/>
              </a:ext>
            </a:extLst>
          </p:cNvPr>
          <p:cNvSpPr txBox="1"/>
          <p:nvPr/>
        </p:nvSpPr>
        <p:spPr>
          <a:xfrm>
            <a:off x="5712766" y="3201794"/>
            <a:ext cx="53440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Super-compiler for multiple languages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10755-B580-9A09-B370-DABD7A2972DE}"/>
              </a:ext>
            </a:extLst>
          </p:cNvPr>
          <p:cNvSpPr txBox="1"/>
          <p:nvPr/>
        </p:nvSpPr>
        <p:spPr>
          <a:xfrm>
            <a:off x="5713851" y="5272508"/>
            <a:ext cx="5344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Not only translates, also optimizes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A8E26-DF3C-467A-6C1B-3EEF7129555D}"/>
              </a:ext>
            </a:extLst>
          </p:cNvPr>
          <p:cNvSpPr txBox="1"/>
          <p:nvPr/>
        </p:nvSpPr>
        <p:spPr>
          <a:xfrm>
            <a:off x="5716022" y="4422585"/>
            <a:ext cx="5344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Widely used in: Rust, C, Swift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6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2B313C-F042-1909-951F-F8619F70AC47}"/>
              </a:ext>
            </a:extLst>
          </p:cNvPr>
          <p:cNvSpPr/>
          <p:nvPr/>
        </p:nvSpPr>
        <p:spPr>
          <a:xfrm rot="7860000">
            <a:off x="2652900" y="3618611"/>
            <a:ext cx="316675" cy="13854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F5881-82E1-0A1E-E2A3-CBB605D414DD}"/>
              </a:ext>
            </a:extLst>
          </p:cNvPr>
          <p:cNvGrpSpPr/>
          <p:nvPr/>
        </p:nvGrpSpPr>
        <p:grpSpPr>
          <a:xfrm>
            <a:off x="8030626" y="1897810"/>
            <a:ext cx="3954409" cy="4381900"/>
            <a:chOff x="8124701" y="-1"/>
            <a:chExt cx="4067297" cy="4974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B4BFD-7FC8-372E-31FB-85979D1BCEBA}"/>
                </a:ext>
              </a:extLst>
            </p:cNvPr>
            <p:cNvSpPr/>
            <p:nvPr/>
          </p:nvSpPr>
          <p:spPr>
            <a:xfrm>
              <a:off x="8124701" y="-1"/>
              <a:ext cx="4067297" cy="49745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B587F7-3B62-A51D-45F4-1DEB6FFDE399}"/>
                </a:ext>
              </a:extLst>
            </p:cNvPr>
            <p:cNvGrpSpPr/>
            <p:nvPr/>
          </p:nvGrpSpPr>
          <p:grpSpPr>
            <a:xfrm>
              <a:off x="9054934" y="979712"/>
              <a:ext cx="2365168" cy="2365168"/>
              <a:chOff x="821376" y="2147454"/>
              <a:chExt cx="2365168" cy="236516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F70F49-4EE7-8FAA-7D66-9096F48963CD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8C6076-88FE-50A4-5C9A-A7E40FC1A062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" name="Picture 26" descr="Small Wyvern logo">
              <a:extLst>
                <a:ext uri="{FF2B5EF4-FFF2-40B4-BE49-F238E27FC236}">
                  <a16:creationId xmlns:a16="http://schemas.microsoft.com/office/drawing/2014/main" id="{05D74400-784F-E984-D2FC-DB3E3CA92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7772" y="1400309"/>
              <a:ext cx="2109850" cy="132453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1335C-41F7-691D-C2E8-18979BCDB923}"/>
                </a:ext>
              </a:extLst>
            </p:cNvPr>
            <p:cNvSpPr txBox="1"/>
            <p:nvPr/>
          </p:nvSpPr>
          <p:spPr>
            <a:xfrm>
              <a:off x="8831721" y="3569361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LLVM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9B28FB-28F7-C6A3-D530-33C9CFA2641D}"/>
              </a:ext>
            </a:extLst>
          </p:cNvPr>
          <p:cNvGrpSpPr/>
          <p:nvPr/>
        </p:nvGrpSpPr>
        <p:grpSpPr>
          <a:xfrm>
            <a:off x="4076216" y="1897811"/>
            <a:ext cx="3945002" cy="4386337"/>
            <a:chOff x="4057402" y="0"/>
            <a:chExt cx="4067297" cy="49601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F08CA7-087E-AB84-6775-6AA11906C613}"/>
                </a:ext>
              </a:extLst>
            </p:cNvPr>
            <p:cNvSpPr/>
            <p:nvPr/>
          </p:nvSpPr>
          <p:spPr>
            <a:xfrm>
              <a:off x="4057402" y="0"/>
              <a:ext cx="4067297" cy="49601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3DB8DF-E502-7791-F30B-3CBF75B0677D}"/>
                </a:ext>
              </a:extLst>
            </p:cNvPr>
            <p:cNvGrpSpPr/>
            <p:nvPr/>
          </p:nvGrpSpPr>
          <p:grpSpPr>
            <a:xfrm>
              <a:off x="4908466" y="979713"/>
              <a:ext cx="2365168" cy="2365168"/>
              <a:chOff x="821376" y="2147454"/>
              <a:chExt cx="2365168" cy="236516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461D1AE-7C33-6D93-0621-4584683F1C95}"/>
                  </a:ext>
                </a:extLst>
              </p:cNvPr>
              <p:cNvSpPr/>
              <p:nvPr/>
            </p:nvSpPr>
            <p:spPr>
              <a:xfrm>
                <a:off x="880752" y="2187038"/>
                <a:ext cx="2305792" cy="23255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B13811-3841-2CFF-E4DB-BEF0DD2F91A3}"/>
                  </a:ext>
                </a:extLst>
              </p:cNvPr>
              <p:cNvSpPr/>
              <p:nvPr/>
            </p:nvSpPr>
            <p:spPr>
              <a:xfrm>
                <a:off x="821376" y="2147454"/>
                <a:ext cx="2305792" cy="2325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 descr="mlir-identity-01.png">
              <a:extLst>
                <a:ext uri="{FF2B5EF4-FFF2-40B4-BE49-F238E27FC236}">
                  <a16:creationId xmlns:a16="http://schemas.microsoft.com/office/drawing/2014/main" id="{1E5AA200-3F44-7EDD-579A-E487ABFC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74" y="1063094"/>
              <a:ext cx="1969148" cy="196914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1CA3B2-7C31-0E4C-88F0-AB56E88D62DD}"/>
                </a:ext>
              </a:extLst>
            </p:cNvPr>
            <p:cNvSpPr txBox="1"/>
            <p:nvPr/>
          </p:nvSpPr>
          <p:spPr>
            <a:xfrm>
              <a:off x="4769920" y="3532535"/>
              <a:ext cx="264225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 dirty="0"/>
                <a:t>MLIR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F41C9-15B6-6DA0-3A4E-F660F208F32F}"/>
              </a:ext>
            </a:extLst>
          </p:cNvPr>
          <p:cNvGrpSpPr/>
          <p:nvPr/>
        </p:nvGrpSpPr>
        <p:grpSpPr>
          <a:xfrm>
            <a:off x="122296" y="1897811"/>
            <a:ext cx="3953919" cy="4386337"/>
            <a:chOff x="122296" y="1897811"/>
            <a:chExt cx="3953919" cy="43863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B8F5FD-7399-8B54-4CD4-91EB70AE6A7F}"/>
                </a:ext>
              </a:extLst>
            </p:cNvPr>
            <p:cNvSpPr/>
            <p:nvPr/>
          </p:nvSpPr>
          <p:spPr>
            <a:xfrm>
              <a:off x="122296" y="1897811"/>
              <a:ext cx="3953919" cy="4386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5B611D-BD4F-F97F-9753-6071F25F68DA}"/>
                </a:ext>
              </a:extLst>
            </p:cNvPr>
            <p:cNvSpPr/>
            <p:nvPr/>
          </p:nvSpPr>
          <p:spPr>
            <a:xfrm>
              <a:off x="951653" y="2799184"/>
              <a:ext cx="2246984" cy="205653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313E46-C649-B768-96F2-702A91265443}"/>
                </a:ext>
              </a:extLst>
            </p:cNvPr>
            <p:cNvSpPr/>
            <p:nvPr/>
          </p:nvSpPr>
          <p:spPr>
            <a:xfrm>
              <a:off x="893791" y="2764180"/>
              <a:ext cx="2246984" cy="20565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501C04-E89E-1DD2-B4FB-DD72B865550E}"/>
                </a:ext>
              </a:extLst>
            </p:cNvPr>
            <p:cNvGrpSpPr/>
            <p:nvPr/>
          </p:nvGrpSpPr>
          <p:grpSpPr>
            <a:xfrm>
              <a:off x="1538863" y="3428640"/>
              <a:ext cx="1013352" cy="823242"/>
              <a:chOff x="1423953" y="2968116"/>
              <a:chExt cx="1039873" cy="93094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C6E4D7-6C41-57CF-F188-EA75BD06646F}"/>
                  </a:ext>
                </a:extLst>
              </p:cNvPr>
              <p:cNvSpPr/>
              <p:nvPr/>
            </p:nvSpPr>
            <p:spPr>
              <a:xfrm rot="2640000">
                <a:off x="1423953" y="2968116"/>
                <a:ext cx="698547" cy="55269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850776-8225-B731-BC41-4BDE147CC151}"/>
                  </a:ext>
                </a:extLst>
              </p:cNvPr>
              <p:cNvSpPr/>
              <p:nvPr/>
            </p:nvSpPr>
            <p:spPr>
              <a:xfrm rot="8100000">
                <a:off x="1659089" y="3026998"/>
                <a:ext cx="804737" cy="4782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07BDB0-BABF-8D52-C536-5741F3C5B48B}"/>
                  </a:ext>
                </a:extLst>
              </p:cNvPr>
              <p:cNvSpPr/>
              <p:nvPr/>
            </p:nvSpPr>
            <p:spPr>
              <a:xfrm rot="5400000">
                <a:off x="1530662" y="3261023"/>
                <a:ext cx="760023" cy="516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592DC8F-5297-BF8F-7B79-56CE1B28D4A2}"/>
                </a:ext>
              </a:extLst>
            </p:cNvPr>
            <p:cNvSpPr/>
            <p:nvPr/>
          </p:nvSpPr>
          <p:spPr>
            <a:xfrm rot="2520000">
              <a:off x="1240965" y="3201741"/>
              <a:ext cx="308598" cy="12251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94472E63-1B59-A328-DE8A-3D43B55C345D}"/>
                </a:ext>
              </a:extLst>
            </p:cNvPr>
            <p:cNvSpPr/>
            <p:nvPr/>
          </p:nvSpPr>
          <p:spPr>
            <a:xfrm rot="5400000">
              <a:off x="1747074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4670E6F-BD50-2AC1-406A-2AEA435815DE}"/>
                </a:ext>
              </a:extLst>
            </p:cNvPr>
            <p:cNvSpPr/>
            <p:nvPr/>
          </p:nvSpPr>
          <p:spPr>
            <a:xfrm rot="5400000">
              <a:off x="1978523" y="4420662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757A771-005A-9C86-BDE8-A395688FF9CC}"/>
                </a:ext>
              </a:extLst>
            </p:cNvPr>
            <p:cNvSpPr/>
            <p:nvPr/>
          </p:nvSpPr>
          <p:spPr>
            <a:xfrm rot="7860000">
              <a:off x="2563759" y="3215500"/>
              <a:ext cx="280038" cy="13501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C5DAB9-CB80-D74E-096F-36FDFCC69A4F}"/>
                </a:ext>
              </a:extLst>
            </p:cNvPr>
            <p:cNvSpPr txBox="1"/>
            <p:nvPr/>
          </p:nvSpPr>
          <p:spPr>
            <a:xfrm>
              <a:off x="758780" y="5060630"/>
              <a:ext cx="2574869" cy="8165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5400" b="1"/>
                <a:t>SIMD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050EF2C-E791-454D-9420-E32CA13BF843}"/>
                </a:ext>
              </a:extLst>
            </p:cNvPr>
            <p:cNvSpPr/>
            <p:nvPr/>
          </p:nvSpPr>
          <p:spPr>
            <a:xfrm rot="7860000">
              <a:off x="2392540" y="3086324"/>
              <a:ext cx="316675" cy="138545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02871D3A-11A7-BB51-2D95-2D0AF8E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</p:spPr>
        <p:txBody>
          <a:bodyPr/>
          <a:lstStyle/>
          <a:p>
            <a:r>
              <a:rPr lang="en-US" dirty="0">
                <a:latin typeface="Batang"/>
                <a:ea typeface="Batang"/>
              </a:rPr>
              <a:t>What makes Mojo so fast?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2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B4E2-2A7B-00DD-3838-AEEADFD4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Python &amp; Mojo</a:t>
            </a:r>
            <a:endParaRPr lang="en-US" dirty="0"/>
          </a:p>
        </p:txBody>
      </p:sp>
      <p:pic>
        <p:nvPicPr>
          <p:cNvPr id="4" name="Picture 3" descr="A group of people walking down a street&#10;&#10;Description automatically generated">
            <a:extLst>
              <a:ext uri="{FF2B5EF4-FFF2-40B4-BE49-F238E27FC236}">
                <a16:creationId xmlns:a16="http://schemas.microsoft.com/office/drawing/2014/main" id="{5145766C-087B-5567-E6AC-68F9624AB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808" y="2259947"/>
            <a:ext cx="5254976" cy="35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65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5F53-5C54-4320-8180-4C4C0C9C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Python &amp; Mojo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7CBF9-6390-7638-0720-E65107D92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42" y="2075688"/>
            <a:ext cx="5116211" cy="3910987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92672"/>
                </a:solidFill>
                <a:latin typeface="Aptos Mono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def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6E22E"/>
                </a:solidFill>
                <a:latin typeface="Aptos Mono"/>
              </a:rPr>
              <a:t>pi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(n: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int):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0.0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for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i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range(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-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2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2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+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4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+=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1.0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/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i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4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start_time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print(pi(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100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_000_000))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end_time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print(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end_time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-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start_time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</a:t>
            </a:r>
            <a:endParaRPr lang="en-US" dirty="0">
              <a:latin typeface="Aptos Mon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9C0C2-DFD8-AE23-8232-636BBDDF4BF2}"/>
              </a:ext>
            </a:extLst>
          </p:cNvPr>
          <p:cNvSpPr txBox="1"/>
          <p:nvPr/>
        </p:nvSpPr>
        <p:spPr>
          <a:xfrm>
            <a:off x="5682342" y="2079172"/>
            <a:ext cx="6150428" cy="39703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92672"/>
                </a:solidFill>
                <a:latin typeface="Aptos Mono"/>
              </a:rPr>
              <a:t>from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python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Python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pi(n: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Int)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-&gt;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FloatLiteral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var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FloatLiteral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0.0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for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i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in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range(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-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2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2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+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,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4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 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+=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1.0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/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i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4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*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total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</a:t>
            </a:r>
            <a:r>
              <a:rPr lang="en-US" err="1">
                <a:solidFill>
                  <a:srgbClr val="66D9EF"/>
                </a:solidFill>
                <a:latin typeface="Aptos Mono"/>
              </a:rPr>
              <a:t>fn</a:t>
            </a:r>
            <a:r>
              <a:rPr lang="en-US" dirty="0">
                <a:solidFill>
                  <a:srgbClr val="66D9EF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main()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raises: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let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Python</a:t>
            </a:r>
            <a:r>
              <a:rPr lang="en-US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import_module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</a:t>
            </a:r>
            <a:r>
              <a:rPr lang="en-US" dirty="0">
                <a:solidFill>
                  <a:srgbClr val="E6DB74"/>
                </a:solidFill>
                <a:latin typeface="Aptos Mono"/>
              </a:rPr>
              <a:t>'time'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let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start_time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print(pi(</a:t>
            </a:r>
            <a:r>
              <a:rPr lang="en-US" dirty="0">
                <a:solidFill>
                  <a:srgbClr val="AE81FF"/>
                </a:solidFill>
                <a:latin typeface="Aptos Mono"/>
              </a:rPr>
              <a:t>100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_000_000))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let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end_time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=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err="1">
                <a:solidFill>
                  <a:srgbClr val="F92672"/>
                </a:solidFill>
                <a:latin typeface="Aptos Mono"/>
              </a:rPr>
              <a:t>.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()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
    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print(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end_time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dirty="0">
                <a:solidFill>
                  <a:srgbClr val="F92672"/>
                </a:solidFill>
                <a:latin typeface="Aptos Mono"/>
              </a:rPr>
              <a:t>-</a:t>
            </a:r>
            <a:r>
              <a:rPr lang="en-US" dirty="0">
                <a:solidFill>
                  <a:srgbClr val="333333"/>
                </a:solidFill>
                <a:latin typeface="Aptos Mono"/>
              </a:rPr>
              <a:t> </a:t>
            </a:r>
            <a:r>
              <a:rPr lang="en-US" err="1">
                <a:solidFill>
                  <a:srgbClr val="F8F8F2"/>
                </a:solidFill>
                <a:latin typeface="Aptos Mono"/>
              </a:rPr>
              <a:t>start_time</a:t>
            </a:r>
            <a:r>
              <a:rPr lang="en-US" dirty="0">
                <a:solidFill>
                  <a:srgbClr val="F8F8F2"/>
                </a:solidFill>
                <a:latin typeface="Aptos Mono"/>
              </a:rPr>
              <a:t>)</a:t>
            </a:r>
            <a:endParaRPr lang="en-US" dirty="0">
              <a:latin typeface="Apto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64404-B9C8-59A4-E858-FFF13AEC5984}"/>
              </a:ext>
            </a:extLst>
          </p:cNvPr>
          <p:cNvSpPr txBox="1"/>
          <p:nvPr/>
        </p:nvSpPr>
        <p:spPr>
          <a:xfrm>
            <a:off x="598715" y="6302828"/>
            <a:ext cx="4539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4.5 seconds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A9837-7D40-1F78-B470-66823783C759}"/>
              </a:ext>
            </a:extLst>
          </p:cNvPr>
          <p:cNvSpPr txBox="1"/>
          <p:nvPr/>
        </p:nvSpPr>
        <p:spPr>
          <a:xfrm>
            <a:off x="6487886" y="6302828"/>
            <a:ext cx="4539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0.14 seconds</a:t>
            </a:r>
          </a:p>
        </p:txBody>
      </p:sp>
    </p:spTree>
    <p:extLst>
      <p:ext uri="{BB962C8B-B14F-4D97-AF65-F5344CB8AC3E}">
        <p14:creationId xmlns:p14="http://schemas.microsoft.com/office/powerpoint/2010/main" val="344390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F0B1846-6CE5-47AE-B0D0-7202A39C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E5B9A-71B7-70FE-973A-E5022571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22960"/>
            <a:ext cx="2483246" cy="5296270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Batang"/>
                <a:ea typeface="Batang"/>
              </a:rPr>
              <a:t>What is missing?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706659-8817-44F5-87F5-B7804F1CB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7E0E66-59D6-4A3A-B1A2-84B90784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147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4F6F91-27E3-4BF5-9BD7-E5923D27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5E6D8D4-05C7-DD20-99A4-E874A6868D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813038"/>
              </p:ext>
            </p:extLst>
          </p:nvPr>
        </p:nvGraphicFramePr>
        <p:xfrm>
          <a:off x="3751189" y="1061686"/>
          <a:ext cx="7880423" cy="4762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9" name="Rectangle 308">
            <a:extLst>
              <a:ext uri="{FF2B5EF4-FFF2-40B4-BE49-F238E27FC236}">
                <a16:creationId xmlns:a16="http://schemas.microsoft.com/office/drawing/2014/main" id="{799E28F2-08FF-4264-7E6D-9744B8ED7485}"/>
              </a:ext>
            </a:extLst>
          </p:cNvPr>
          <p:cNvSpPr/>
          <p:nvPr/>
        </p:nvSpPr>
        <p:spPr>
          <a:xfrm>
            <a:off x="3791186" y="1034815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FF69289-DA58-E278-6ADF-5EBE24DA6B7B}"/>
              </a:ext>
            </a:extLst>
          </p:cNvPr>
          <p:cNvSpPr/>
          <p:nvPr/>
        </p:nvSpPr>
        <p:spPr>
          <a:xfrm>
            <a:off x="6425260" y="1034815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B6563704-2D79-B6C5-43FC-D25256B54BB9}"/>
              </a:ext>
            </a:extLst>
          </p:cNvPr>
          <p:cNvSpPr/>
          <p:nvPr/>
        </p:nvSpPr>
        <p:spPr>
          <a:xfrm>
            <a:off x="9059334" y="1006593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7CF1FE1-54EE-8981-11FA-9EE86DC10971}"/>
              </a:ext>
            </a:extLst>
          </p:cNvPr>
          <p:cNvSpPr/>
          <p:nvPr/>
        </p:nvSpPr>
        <p:spPr>
          <a:xfrm>
            <a:off x="3819408" y="2718741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166C657-E156-E1A9-9F6A-62CAA922AF6C}"/>
              </a:ext>
            </a:extLst>
          </p:cNvPr>
          <p:cNvSpPr/>
          <p:nvPr/>
        </p:nvSpPr>
        <p:spPr>
          <a:xfrm>
            <a:off x="6425260" y="2690519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89582775-7818-8133-EA03-B3B5C6BAC33E}"/>
              </a:ext>
            </a:extLst>
          </p:cNvPr>
          <p:cNvSpPr/>
          <p:nvPr/>
        </p:nvSpPr>
        <p:spPr>
          <a:xfrm>
            <a:off x="9059334" y="2690519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2D41C8D3-93C2-F55B-E410-E99A9078FF74}"/>
              </a:ext>
            </a:extLst>
          </p:cNvPr>
          <p:cNvSpPr/>
          <p:nvPr/>
        </p:nvSpPr>
        <p:spPr>
          <a:xfrm>
            <a:off x="6453482" y="4383852"/>
            <a:ext cx="2474147" cy="149577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2B7E-929A-8F3B-EBFF-DD65EFB9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My evaluation of Mojo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CE5824-3769-69B2-DA9D-F112FF6F0C6E}"/>
              </a:ext>
            </a:extLst>
          </p:cNvPr>
          <p:cNvSpPr/>
          <p:nvPr/>
        </p:nvSpPr>
        <p:spPr>
          <a:xfrm>
            <a:off x="6799385" y="2198076"/>
            <a:ext cx="4435230" cy="398584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74ACEA-A91A-47B1-CCEF-40657653972C}"/>
              </a:ext>
            </a:extLst>
          </p:cNvPr>
          <p:cNvGrpSpPr/>
          <p:nvPr/>
        </p:nvGrpSpPr>
        <p:grpSpPr>
          <a:xfrm>
            <a:off x="957385" y="2198076"/>
            <a:ext cx="4435230" cy="3985846"/>
            <a:chOff x="957385" y="2198076"/>
            <a:chExt cx="4435230" cy="398584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1D8FE8D-59FF-09B6-99B7-50C6AC002965}"/>
                </a:ext>
              </a:extLst>
            </p:cNvPr>
            <p:cNvSpPr/>
            <p:nvPr/>
          </p:nvSpPr>
          <p:spPr>
            <a:xfrm>
              <a:off x="957385" y="2198076"/>
              <a:ext cx="4435230" cy="398584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B52EAF-3B51-B685-C5F0-E574DCBDCC63}"/>
                </a:ext>
              </a:extLst>
            </p:cNvPr>
            <p:cNvSpPr txBox="1"/>
            <p:nvPr/>
          </p:nvSpPr>
          <p:spPr>
            <a:xfrm>
              <a:off x="1582615" y="2325076"/>
              <a:ext cx="309684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1" dirty="0"/>
                <a:t>Pros</a:t>
              </a:r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D1D9AE2-ADE0-F9D4-FD84-91E6CAFA2B92}"/>
              </a:ext>
            </a:extLst>
          </p:cNvPr>
          <p:cNvSpPr txBox="1"/>
          <p:nvPr/>
        </p:nvSpPr>
        <p:spPr>
          <a:xfrm>
            <a:off x="7473461" y="2325076"/>
            <a:ext cx="3096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Cons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D37DD-D78F-F87A-F364-6EB68722BD80}"/>
              </a:ext>
            </a:extLst>
          </p:cNvPr>
          <p:cNvSpPr txBox="1"/>
          <p:nvPr/>
        </p:nvSpPr>
        <p:spPr>
          <a:xfrm>
            <a:off x="1299307" y="2793999"/>
            <a:ext cx="3770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Backed by a strong team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DBEF7-73E9-61FB-5308-7A46CC7A3222}"/>
              </a:ext>
            </a:extLst>
          </p:cNvPr>
          <p:cNvSpPr txBox="1"/>
          <p:nvPr/>
        </p:nvSpPr>
        <p:spPr>
          <a:xfrm>
            <a:off x="7170614" y="2793999"/>
            <a:ext cx="3770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Not open source, yet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6ABEF-C8B7-BABD-47EA-415E97F85E56}"/>
              </a:ext>
            </a:extLst>
          </p:cNvPr>
          <p:cNvSpPr txBox="1"/>
          <p:nvPr/>
        </p:nvSpPr>
        <p:spPr>
          <a:xfrm>
            <a:off x="7170614" y="3458306"/>
            <a:ext cx="3770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No packages index, yet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9A9B3-4008-8487-8863-7A07E8338EDA}"/>
              </a:ext>
            </a:extLst>
          </p:cNvPr>
          <p:cNvSpPr txBox="1"/>
          <p:nvPr/>
        </p:nvSpPr>
        <p:spPr>
          <a:xfrm>
            <a:off x="1436076" y="3458306"/>
            <a:ext cx="3770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Python reusability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12992-804E-635B-4D82-655C501F0221}"/>
              </a:ext>
            </a:extLst>
          </p:cNvPr>
          <p:cNvSpPr txBox="1"/>
          <p:nvPr/>
        </p:nvSpPr>
        <p:spPr>
          <a:xfrm>
            <a:off x="1357922" y="4142152"/>
            <a:ext cx="39272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Can compile to executable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A7645F-3673-FFD4-7C8C-777205AD417E}"/>
              </a:ext>
            </a:extLst>
          </p:cNvPr>
          <p:cNvSpPr txBox="1"/>
          <p:nvPr/>
        </p:nvSpPr>
        <p:spPr>
          <a:xfrm>
            <a:off x="1436075" y="4855305"/>
            <a:ext cx="377092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MLIR types available in Python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6EB1E4-770D-44EF-511C-77240EF80401}"/>
              </a:ext>
            </a:extLst>
          </p:cNvPr>
          <p:cNvSpPr txBox="1"/>
          <p:nvPr/>
        </p:nvSpPr>
        <p:spPr>
          <a:xfrm>
            <a:off x="7287845" y="4142152"/>
            <a:ext cx="37709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Small subset of functions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AE082E-6012-F98E-01BE-6A82515201B3}"/>
              </a:ext>
            </a:extLst>
          </p:cNvPr>
          <p:cNvSpPr txBox="1"/>
          <p:nvPr/>
        </p:nvSpPr>
        <p:spPr>
          <a:xfrm>
            <a:off x="7365998" y="4855305"/>
            <a:ext cx="377092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Too strong reliance on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4967-D98E-8C70-D62F-FD715A08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Will I use it?</a:t>
            </a:r>
            <a:endParaRPr lang="en-US" dirty="0"/>
          </a:p>
        </p:txBody>
      </p:sp>
      <p:pic>
        <p:nvPicPr>
          <p:cNvPr id="5" name="Picture 4" descr="advent-of-code-2022 · GitHub Topics · GitHub">
            <a:extLst>
              <a:ext uri="{FF2B5EF4-FFF2-40B4-BE49-F238E27FC236}">
                <a16:creationId xmlns:a16="http://schemas.microsoft.com/office/drawing/2014/main" id="{2ACC695E-57BF-82A2-0414-DFBBE7C78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93" y="2528082"/>
            <a:ext cx="5869353" cy="32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C2E0-0194-4FC8-95DF-46497EAC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tang"/>
                <a:ea typeface="Batang"/>
              </a:rPr>
              <a:t>My info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9F768-57F7-B668-00A7-2F2B5774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4164182" cy="7406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err="1"/>
              <a:t>Linkedin</a:t>
            </a:r>
            <a:endParaRPr lang="en-US" sz="2400" b="1"/>
          </a:p>
          <a:p>
            <a:pPr marL="0" indent="0" algn="ctr">
              <a:buNone/>
            </a:pPr>
            <a:r>
              <a:rPr lang="en-US" sz="2400" b="1" err="1"/>
              <a:t>vito.minheere</a:t>
            </a:r>
            <a:endParaRPr lang="en-US" sz="2400" b="1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qr code with a logo&#10;&#10;Description automatically generated">
            <a:extLst>
              <a:ext uri="{FF2B5EF4-FFF2-40B4-BE49-F238E27FC236}">
                <a16:creationId xmlns:a16="http://schemas.microsoft.com/office/drawing/2014/main" id="{DDF2342B-BC12-4453-6BAB-F9E66FF0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55" y="3327400"/>
            <a:ext cx="2743200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CD9E9-2200-CE1E-66D3-626C95067B48}"/>
              </a:ext>
            </a:extLst>
          </p:cNvPr>
          <p:cNvSpPr txBox="1"/>
          <p:nvPr/>
        </p:nvSpPr>
        <p:spPr>
          <a:xfrm>
            <a:off x="7300148" y="2116666"/>
            <a:ext cx="376296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 err="1"/>
              <a:t>Github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err="1"/>
              <a:t>VitoMinheere</a:t>
            </a:r>
            <a:endParaRPr lang="en-US" sz="2000" b="1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E8BC3E9-D8A8-B7A6-5ADD-5E577FBF9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030" y="3327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54160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3"/>
      </a:accent1>
      <a:accent2>
        <a:srgbClr val="B1663B"/>
      </a:accent2>
      <a:accent3>
        <a:srgbClr val="BAA149"/>
      </a:accent3>
      <a:accent4>
        <a:srgbClr val="97AD39"/>
      </a:accent4>
      <a:accent5>
        <a:srgbClr val="71B447"/>
      </a:accent5>
      <a:accent6>
        <a:srgbClr val="3BB13E"/>
      </a:accent6>
      <a:hlink>
        <a:srgbClr val="30928C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AlignmentVTI</vt:lpstr>
      <vt:lpstr>PowerPoint Presentation</vt:lpstr>
      <vt:lpstr>Agenda</vt:lpstr>
      <vt:lpstr>Who am I</vt:lpstr>
      <vt:lpstr>How I heard about Mojo</vt:lpstr>
      <vt:lpstr>Is Mojo faster than Python?</vt:lpstr>
      <vt:lpstr>Matrix Multiplication</vt:lpstr>
      <vt:lpstr>Matrix Multiplication</vt:lpstr>
      <vt:lpstr>Matrix Multiplication</vt:lpstr>
      <vt:lpstr>Optimizations</vt:lpstr>
      <vt:lpstr>Optimized Mojo Code</vt:lpstr>
      <vt:lpstr>Vectorize unroll</vt:lpstr>
      <vt:lpstr>35.000x faster than Python?</vt:lpstr>
      <vt:lpstr>Who is behind Mojo?</vt:lpstr>
      <vt:lpstr>Modular</vt:lpstr>
      <vt:lpstr>What is Mojo?</vt:lpstr>
      <vt:lpstr>Just In Time Compilation</vt:lpstr>
      <vt:lpstr>Ahead Of Time Compilation</vt:lpstr>
      <vt:lpstr>What is Mojo?</vt:lpstr>
      <vt:lpstr>Mojo is faster than Python</vt:lpstr>
      <vt:lpstr>What makes Mojo so fast?</vt:lpstr>
      <vt:lpstr>Single Instruction, Multiple Data</vt:lpstr>
      <vt:lpstr>What makes Mojo so fast?</vt:lpstr>
      <vt:lpstr>Multi-Level Intermediate Representation</vt:lpstr>
      <vt:lpstr>What makes Mojo so fast?</vt:lpstr>
      <vt:lpstr>Low Level Virtual Machine</vt:lpstr>
      <vt:lpstr>What makes Mojo so fast?</vt:lpstr>
      <vt:lpstr>Python &amp; Mojo</vt:lpstr>
      <vt:lpstr>Python &amp; Mojo</vt:lpstr>
      <vt:lpstr>What is missing?</vt:lpstr>
      <vt:lpstr>My evaluation of Mojo</vt:lpstr>
      <vt:lpstr>Will I use it?</vt:lpstr>
      <vt:lpstr>My info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1624</cp:revision>
  <dcterms:created xsi:type="dcterms:W3CDTF">2023-09-26T05:59:05Z</dcterms:created>
  <dcterms:modified xsi:type="dcterms:W3CDTF">2023-10-11T07:37:14Z</dcterms:modified>
</cp:coreProperties>
</file>